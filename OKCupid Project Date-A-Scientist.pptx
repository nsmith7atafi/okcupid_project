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HK Grotesk Bold" charset="1" panose="00000800000000000000"/>
      <p:regular r:id="rId18"/>
    </p:embeddedFont>
    <p:embeddedFont>
      <p:font typeface="Open Sans 1 Bold" charset="1" panose="020B0806030504020204"/>
      <p:regular r:id="rId19"/>
    </p:embeddedFont>
    <p:embeddedFont>
      <p:font typeface="Open Sans 1" charset="1" panose="020B0606030504020204"/>
      <p:regular r:id="rId20"/>
    </p:embeddedFont>
    <p:embeddedFont>
      <p:font typeface="Canva Sans" charset="1" panose="020B0503030501040103"/>
      <p:regular r:id="rId21"/>
    </p:embeddedFont>
    <p:embeddedFont>
      <p:font typeface="Canva Sans Bold" charset="1" panose="020B0803030501040103"/>
      <p:regular r:id="rId22"/>
    </p:embeddedFont>
    <p:embeddedFont>
      <p:font typeface="Open Sans 2 Bold" charset="1" panose="00000000000000000000"/>
      <p:regular r:id="rId23"/>
    </p:embeddedFont>
    <p:embeddedFont>
      <p:font typeface="Open Sans 2"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1999" y="271999"/>
            <a:ext cx="7908899" cy="9743002"/>
            <a:chOff x="0" y="0"/>
            <a:chExt cx="812800" cy="1001291"/>
          </a:xfrm>
        </p:grpSpPr>
        <p:sp>
          <p:nvSpPr>
            <p:cNvPr name="Freeform 3" id="3"/>
            <p:cNvSpPr/>
            <p:nvPr/>
          </p:nvSpPr>
          <p:spPr>
            <a:xfrm flipH="false" flipV="false" rot="0">
              <a:off x="0" y="0"/>
              <a:ext cx="812800" cy="1001291"/>
            </a:xfrm>
            <a:custGeom>
              <a:avLst/>
              <a:gdLst/>
              <a:ahLst/>
              <a:cxnLst/>
              <a:rect r="r" b="b" t="t" l="l"/>
              <a:pathLst>
                <a:path h="1001291" w="812800">
                  <a:moveTo>
                    <a:pt x="0" y="0"/>
                  </a:moveTo>
                  <a:lnTo>
                    <a:pt x="812800" y="0"/>
                  </a:lnTo>
                  <a:lnTo>
                    <a:pt x="812800" y="1001291"/>
                  </a:lnTo>
                  <a:lnTo>
                    <a:pt x="0" y="1001291"/>
                  </a:lnTo>
                  <a:close/>
                </a:path>
              </a:pathLst>
            </a:custGeom>
            <a:blipFill>
              <a:blip r:embed="rId2"/>
              <a:stretch>
                <a:fillRect l="-42450" t="0" r="-42450" b="0"/>
              </a:stretch>
            </a:blipFill>
          </p:spPr>
        </p:sp>
      </p:grpSp>
      <p:grpSp>
        <p:nvGrpSpPr>
          <p:cNvPr name="Group 4" id="4"/>
          <p:cNvGrpSpPr/>
          <p:nvPr/>
        </p:nvGrpSpPr>
        <p:grpSpPr>
          <a:xfrm rot="0">
            <a:off x="9256123" y="2136898"/>
            <a:ext cx="8384422" cy="5751948"/>
            <a:chOff x="0" y="0"/>
            <a:chExt cx="11179230" cy="7669264"/>
          </a:xfrm>
        </p:grpSpPr>
        <p:sp>
          <p:nvSpPr>
            <p:cNvPr name="TextBox 5" id="5"/>
            <p:cNvSpPr txBox="true"/>
            <p:nvPr/>
          </p:nvSpPr>
          <p:spPr>
            <a:xfrm rot="0">
              <a:off x="161667" y="-9525"/>
              <a:ext cx="10356836" cy="4810125"/>
            </a:xfrm>
            <a:prstGeom prst="rect">
              <a:avLst/>
            </a:prstGeom>
          </p:spPr>
          <p:txBody>
            <a:bodyPr anchor="t" rtlCol="false" tIns="0" lIns="0" bIns="0" rIns="0">
              <a:spAutoFit/>
            </a:bodyPr>
            <a:lstStyle/>
            <a:p>
              <a:pPr algn="l" marL="0" indent="0" lvl="0">
                <a:lnSpc>
                  <a:spcPts val="9450"/>
                </a:lnSpc>
              </a:pPr>
              <a:r>
                <a:rPr lang="en-US" b="true" sz="7875">
                  <a:solidFill>
                    <a:srgbClr val="2E1E1A"/>
                  </a:solidFill>
                  <a:latin typeface="HK Grotesk Bold"/>
                  <a:ea typeface="HK Grotesk Bold"/>
                  <a:cs typeface="HK Grotesk Bold"/>
                  <a:sym typeface="HK Grotesk Bold"/>
                </a:rPr>
                <a:t>OKCupid Project: </a:t>
              </a:r>
            </a:p>
            <a:p>
              <a:pPr algn="l" marL="0" indent="0" lvl="0">
                <a:lnSpc>
                  <a:spcPts val="9450"/>
                </a:lnSpc>
              </a:pPr>
              <a:r>
                <a:rPr lang="en-US" b="true" sz="7875">
                  <a:solidFill>
                    <a:srgbClr val="2E1E1A"/>
                  </a:solidFill>
                  <a:latin typeface="HK Grotesk Bold"/>
                  <a:ea typeface="HK Grotesk Bold"/>
                  <a:cs typeface="HK Grotesk Bold"/>
                  <a:sym typeface="HK Grotesk Bold"/>
                </a:rPr>
                <a:t>Date-A-Scientist</a:t>
              </a:r>
            </a:p>
          </p:txBody>
        </p:sp>
        <p:sp>
          <p:nvSpPr>
            <p:cNvPr name="TextBox 6" id="6"/>
            <p:cNvSpPr txBox="true"/>
            <p:nvPr/>
          </p:nvSpPr>
          <p:spPr>
            <a:xfrm rot="0">
              <a:off x="161667" y="5700764"/>
              <a:ext cx="10356836" cy="1968500"/>
            </a:xfrm>
            <a:prstGeom prst="rect">
              <a:avLst/>
            </a:prstGeom>
          </p:spPr>
          <p:txBody>
            <a:bodyPr anchor="t" rtlCol="false" tIns="0" lIns="0" bIns="0" rIns="0">
              <a:spAutoFit/>
            </a:bodyPr>
            <a:lstStyle/>
            <a:p>
              <a:pPr algn="l" marL="0" indent="0" lvl="0">
                <a:lnSpc>
                  <a:spcPts val="3900"/>
                </a:lnSpc>
              </a:pPr>
              <a:r>
                <a:rPr lang="en-US" b="true" sz="3000">
                  <a:solidFill>
                    <a:srgbClr val="2E1E1A"/>
                  </a:solidFill>
                  <a:latin typeface="HK Grotesk Bold"/>
                  <a:ea typeface="HK Grotesk Bold"/>
                  <a:cs typeface="HK Grotesk Bold"/>
                  <a:sym typeface="HK Grotesk Bold"/>
                </a:rPr>
                <a:t>Machine learning techniques to predict the zodiac signs of OKCupid users based on their profile features</a:t>
              </a:r>
            </a:p>
          </p:txBody>
        </p:sp>
        <p:sp>
          <p:nvSpPr>
            <p:cNvPr name="AutoShape 7" id="7"/>
            <p:cNvSpPr/>
            <p:nvPr/>
          </p:nvSpPr>
          <p:spPr>
            <a:xfrm>
              <a:off x="0" y="5221653"/>
              <a:ext cx="11179230" cy="0"/>
            </a:xfrm>
            <a:prstGeom prst="line">
              <a:avLst/>
            </a:prstGeom>
            <a:ln cap="flat" w="139700">
              <a:solidFill>
                <a:srgbClr val="2E1E1A"/>
              </a:solidFill>
              <a:prstDash val="solid"/>
              <a:headEnd type="none" len="sm" w="sm"/>
              <a:tailEnd type="none" len="sm" w="sm"/>
            </a:ln>
          </p:spPr>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F5757"/>
        </a:solidFill>
      </p:bgPr>
    </p:bg>
    <p:spTree>
      <p:nvGrpSpPr>
        <p:cNvPr id="1" name=""/>
        <p:cNvGrpSpPr/>
        <p:nvPr/>
      </p:nvGrpSpPr>
      <p:grpSpPr>
        <a:xfrm>
          <a:off x="0" y="0"/>
          <a:ext cx="0" cy="0"/>
          <a:chOff x="0" y="0"/>
          <a:chExt cx="0" cy="0"/>
        </a:xfrm>
      </p:grpSpPr>
      <p:sp>
        <p:nvSpPr>
          <p:cNvPr name="TextBox 2" id="2"/>
          <p:cNvSpPr txBox="true"/>
          <p:nvPr/>
        </p:nvSpPr>
        <p:spPr>
          <a:xfrm rot="0">
            <a:off x="9204270" y="1951858"/>
            <a:ext cx="7322748" cy="973455"/>
          </a:xfrm>
          <a:prstGeom prst="rect">
            <a:avLst/>
          </a:prstGeom>
        </p:spPr>
        <p:txBody>
          <a:bodyPr anchor="t" rtlCol="false" tIns="0" lIns="0" bIns="0" rIns="0">
            <a:spAutoFit/>
          </a:bodyPr>
          <a:lstStyle/>
          <a:p>
            <a:pPr algn="l">
              <a:lnSpc>
                <a:spcPts val="8400"/>
              </a:lnSpc>
            </a:pPr>
            <a:r>
              <a:rPr lang="en-US" b="true" sz="4200">
                <a:solidFill>
                  <a:srgbClr val="2E1E1A"/>
                </a:solidFill>
                <a:latin typeface="HK Grotesk Bold"/>
                <a:ea typeface="HK Grotesk Bold"/>
                <a:cs typeface="HK Grotesk Bold"/>
                <a:sym typeface="HK Grotesk Bold"/>
              </a:rPr>
              <a:t>Project Overview and Focus</a:t>
            </a:r>
          </a:p>
        </p:txBody>
      </p:sp>
      <p:grpSp>
        <p:nvGrpSpPr>
          <p:cNvPr name="Group 3" id="3"/>
          <p:cNvGrpSpPr/>
          <p:nvPr/>
        </p:nvGrpSpPr>
        <p:grpSpPr>
          <a:xfrm rot="0">
            <a:off x="7788453" y="2191841"/>
            <a:ext cx="771999" cy="771999"/>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E1E1A"/>
            </a:solidFill>
          </p:spPr>
        </p:sp>
      </p:grpSp>
      <p:sp>
        <p:nvSpPr>
          <p:cNvPr name="TextBox 5" id="5"/>
          <p:cNvSpPr txBox="true"/>
          <p:nvPr/>
        </p:nvSpPr>
        <p:spPr>
          <a:xfrm rot="0">
            <a:off x="7901847" y="2171885"/>
            <a:ext cx="545211" cy="678561"/>
          </a:xfrm>
          <a:prstGeom prst="rect">
            <a:avLst/>
          </a:prstGeom>
        </p:spPr>
        <p:txBody>
          <a:bodyPr anchor="t" rtlCol="false" tIns="0" lIns="0" bIns="0" rIns="0">
            <a:spAutoFit/>
          </a:bodyPr>
          <a:lstStyle/>
          <a:p>
            <a:pPr algn="ctr">
              <a:lnSpc>
                <a:spcPts val="5652"/>
              </a:lnSpc>
            </a:pPr>
            <a:r>
              <a:rPr lang="en-US" b="true" sz="3600">
                <a:solidFill>
                  <a:srgbClr val="FEFEFE"/>
                </a:solidFill>
                <a:latin typeface="HK Grotesk Bold"/>
                <a:ea typeface="HK Grotesk Bold"/>
                <a:cs typeface="HK Grotesk Bold"/>
                <a:sym typeface="HK Grotesk Bold"/>
              </a:rPr>
              <a:t>1</a:t>
            </a:r>
          </a:p>
        </p:txBody>
      </p:sp>
      <p:sp>
        <p:nvSpPr>
          <p:cNvPr name="TextBox 6" id="6"/>
          <p:cNvSpPr txBox="true"/>
          <p:nvPr/>
        </p:nvSpPr>
        <p:spPr>
          <a:xfrm rot="0">
            <a:off x="9204270" y="3233926"/>
            <a:ext cx="7322748" cy="973455"/>
          </a:xfrm>
          <a:prstGeom prst="rect">
            <a:avLst/>
          </a:prstGeom>
        </p:spPr>
        <p:txBody>
          <a:bodyPr anchor="t" rtlCol="false" tIns="0" lIns="0" bIns="0" rIns="0">
            <a:spAutoFit/>
          </a:bodyPr>
          <a:lstStyle/>
          <a:p>
            <a:pPr algn="l" marL="0" indent="0" lvl="1">
              <a:lnSpc>
                <a:spcPts val="8400"/>
              </a:lnSpc>
              <a:spcBef>
                <a:spcPct val="0"/>
              </a:spcBef>
            </a:pPr>
            <a:r>
              <a:rPr lang="en-US" b="true" sz="4200">
                <a:solidFill>
                  <a:srgbClr val="2E1E1A"/>
                </a:solidFill>
                <a:latin typeface="HK Grotesk Bold"/>
                <a:ea typeface="HK Grotesk Bold"/>
                <a:cs typeface="HK Grotesk Bold"/>
                <a:sym typeface="HK Grotesk Bold"/>
              </a:rPr>
              <a:t>Exploring the Data</a:t>
            </a:r>
          </a:p>
        </p:txBody>
      </p:sp>
      <p:grpSp>
        <p:nvGrpSpPr>
          <p:cNvPr name="Group 7" id="7"/>
          <p:cNvGrpSpPr/>
          <p:nvPr/>
        </p:nvGrpSpPr>
        <p:grpSpPr>
          <a:xfrm rot="0">
            <a:off x="7788453" y="3471682"/>
            <a:ext cx="771999" cy="771999"/>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E1E1A"/>
            </a:solidFill>
          </p:spPr>
        </p:sp>
      </p:grpSp>
      <p:sp>
        <p:nvSpPr>
          <p:cNvPr name="TextBox 9" id="9"/>
          <p:cNvSpPr txBox="true"/>
          <p:nvPr/>
        </p:nvSpPr>
        <p:spPr>
          <a:xfrm rot="0">
            <a:off x="7901847" y="3451726"/>
            <a:ext cx="545211" cy="678561"/>
          </a:xfrm>
          <a:prstGeom prst="rect">
            <a:avLst/>
          </a:prstGeom>
        </p:spPr>
        <p:txBody>
          <a:bodyPr anchor="t" rtlCol="false" tIns="0" lIns="0" bIns="0" rIns="0">
            <a:spAutoFit/>
          </a:bodyPr>
          <a:lstStyle/>
          <a:p>
            <a:pPr algn="ctr" marL="0" indent="0" lvl="1">
              <a:lnSpc>
                <a:spcPts val="5652"/>
              </a:lnSpc>
              <a:spcBef>
                <a:spcPct val="0"/>
              </a:spcBef>
            </a:pPr>
            <a:r>
              <a:rPr lang="en-US" b="true" sz="3600" u="none">
                <a:solidFill>
                  <a:srgbClr val="FEFEFE"/>
                </a:solidFill>
                <a:latin typeface="HK Grotesk Bold"/>
                <a:ea typeface="HK Grotesk Bold"/>
                <a:cs typeface="HK Grotesk Bold"/>
                <a:sym typeface="HK Grotesk Bold"/>
              </a:rPr>
              <a:t>2</a:t>
            </a:r>
          </a:p>
        </p:txBody>
      </p:sp>
      <p:sp>
        <p:nvSpPr>
          <p:cNvPr name="TextBox 10" id="10"/>
          <p:cNvSpPr txBox="true"/>
          <p:nvPr/>
        </p:nvSpPr>
        <p:spPr>
          <a:xfrm rot="0">
            <a:off x="9204270" y="5798063"/>
            <a:ext cx="7322748" cy="973455"/>
          </a:xfrm>
          <a:prstGeom prst="rect">
            <a:avLst/>
          </a:prstGeom>
        </p:spPr>
        <p:txBody>
          <a:bodyPr anchor="t" rtlCol="false" tIns="0" lIns="0" bIns="0" rIns="0">
            <a:spAutoFit/>
          </a:bodyPr>
          <a:lstStyle/>
          <a:p>
            <a:pPr algn="l" marL="0" indent="0" lvl="1">
              <a:lnSpc>
                <a:spcPts val="8400"/>
              </a:lnSpc>
              <a:spcBef>
                <a:spcPct val="0"/>
              </a:spcBef>
            </a:pPr>
            <a:r>
              <a:rPr lang="en-US" b="true" sz="4200">
                <a:solidFill>
                  <a:srgbClr val="2E1E1A"/>
                </a:solidFill>
                <a:latin typeface="HK Grotesk Bold"/>
                <a:ea typeface="HK Grotesk Bold"/>
                <a:cs typeface="HK Grotesk Bold"/>
                <a:sym typeface="HK Grotesk Bold"/>
              </a:rPr>
              <a:t>Building the Models</a:t>
            </a:r>
          </a:p>
        </p:txBody>
      </p:sp>
      <p:grpSp>
        <p:nvGrpSpPr>
          <p:cNvPr name="Group 11" id="11"/>
          <p:cNvGrpSpPr/>
          <p:nvPr/>
        </p:nvGrpSpPr>
        <p:grpSpPr>
          <a:xfrm rot="0">
            <a:off x="7788453" y="6031363"/>
            <a:ext cx="771999" cy="771999"/>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E1E1A"/>
            </a:solidFill>
          </p:spPr>
        </p:sp>
      </p:grpSp>
      <p:sp>
        <p:nvSpPr>
          <p:cNvPr name="TextBox 13" id="13"/>
          <p:cNvSpPr txBox="true"/>
          <p:nvPr/>
        </p:nvSpPr>
        <p:spPr>
          <a:xfrm rot="0">
            <a:off x="7901847" y="6011407"/>
            <a:ext cx="545211" cy="678561"/>
          </a:xfrm>
          <a:prstGeom prst="rect">
            <a:avLst/>
          </a:prstGeom>
        </p:spPr>
        <p:txBody>
          <a:bodyPr anchor="t" rtlCol="false" tIns="0" lIns="0" bIns="0" rIns="0">
            <a:spAutoFit/>
          </a:bodyPr>
          <a:lstStyle/>
          <a:p>
            <a:pPr algn="ctr" marL="0" indent="0" lvl="1">
              <a:lnSpc>
                <a:spcPts val="5652"/>
              </a:lnSpc>
              <a:spcBef>
                <a:spcPct val="0"/>
              </a:spcBef>
            </a:pPr>
            <a:r>
              <a:rPr lang="en-US" b="true" sz="3600" u="none">
                <a:solidFill>
                  <a:srgbClr val="FEFEFE"/>
                </a:solidFill>
                <a:latin typeface="HK Grotesk Bold"/>
                <a:ea typeface="HK Grotesk Bold"/>
                <a:cs typeface="HK Grotesk Bold"/>
                <a:sym typeface="HK Grotesk Bold"/>
              </a:rPr>
              <a:t>4</a:t>
            </a:r>
          </a:p>
        </p:txBody>
      </p:sp>
      <p:sp>
        <p:nvSpPr>
          <p:cNvPr name="TextBox 14" id="14"/>
          <p:cNvSpPr txBox="true"/>
          <p:nvPr/>
        </p:nvSpPr>
        <p:spPr>
          <a:xfrm rot="0">
            <a:off x="9204270" y="4515994"/>
            <a:ext cx="7322748" cy="973455"/>
          </a:xfrm>
          <a:prstGeom prst="rect">
            <a:avLst/>
          </a:prstGeom>
        </p:spPr>
        <p:txBody>
          <a:bodyPr anchor="t" rtlCol="false" tIns="0" lIns="0" bIns="0" rIns="0">
            <a:spAutoFit/>
          </a:bodyPr>
          <a:lstStyle/>
          <a:p>
            <a:pPr algn="l" marL="0" indent="0" lvl="1">
              <a:lnSpc>
                <a:spcPts val="8400"/>
              </a:lnSpc>
              <a:spcBef>
                <a:spcPct val="0"/>
              </a:spcBef>
            </a:pPr>
            <a:r>
              <a:rPr lang="en-US" b="true" sz="4200">
                <a:solidFill>
                  <a:srgbClr val="2E1E1A"/>
                </a:solidFill>
                <a:latin typeface="HK Grotesk Bold"/>
                <a:ea typeface="HK Grotesk Bold"/>
                <a:cs typeface="HK Grotesk Bold"/>
                <a:sym typeface="HK Grotesk Bold"/>
              </a:rPr>
              <a:t>Preprocessing the Data</a:t>
            </a:r>
          </a:p>
        </p:txBody>
      </p:sp>
      <p:grpSp>
        <p:nvGrpSpPr>
          <p:cNvPr name="Group 15" id="15"/>
          <p:cNvGrpSpPr/>
          <p:nvPr/>
        </p:nvGrpSpPr>
        <p:grpSpPr>
          <a:xfrm rot="0">
            <a:off x="7788453" y="4751522"/>
            <a:ext cx="771999" cy="771999"/>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E1E1A"/>
            </a:solidFill>
          </p:spPr>
        </p:sp>
      </p:grpSp>
      <p:sp>
        <p:nvSpPr>
          <p:cNvPr name="TextBox 17" id="17"/>
          <p:cNvSpPr txBox="true"/>
          <p:nvPr/>
        </p:nvSpPr>
        <p:spPr>
          <a:xfrm rot="0">
            <a:off x="7901847" y="4731566"/>
            <a:ext cx="545211" cy="678561"/>
          </a:xfrm>
          <a:prstGeom prst="rect">
            <a:avLst/>
          </a:prstGeom>
        </p:spPr>
        <p:txBody>
          <a:bodyPr anchor="t" rtlCol="false" tIns="0" lIns="0" bIns="0" rIns="0">
            <a:spAutoFit/>
          </a:bodyPr>
          <a:lstStyle/>
          <a:p>
            <a:pPr algn="ctr" marL="0" indent="0" lvl="1">
              <a:lnSpc>
                <a:spcPts val="5652"/>
              </a:lnSpc>
              <a:spcBef>
                <a:spcPct val="0"/>
              </a:spcBef>
            </a:pPr>
            <a:r>
              <a:rPr lang="en-US" b="true" sz="3600" u="none">
                <a:solidFill>
                  <a:srgbClr val="FEFEFE"/>
                </a:solidFill>
                <a:latin typeface="HK Grotesk Bold"/>
                <a:ea typeface="HK Grotesk Bold"/>
                <a:cs typeface="HK Grotesk Bold"/>
                <a:sym typeface="HK Grotesk Bold"/>
              </a:rPr>
              <a:t>3</a:t>
            </a:r>
          </a:p>
        </p:txBody>
      </p:sp>
      <p:sp>
        <p:nvSpPr>
          <p:cNvPr name="TextBox 18" id="18"/>
          <p:cNvSpPr txBox="true"/>
          <p:nvPr/>
        </p:nvSpPr>
        <p:spPr>
          <a:xfrm rot="0">
            <a:off x="9204270" y="7080131"/>
            <a:ext cx="7322748" cy="973455"/>
          </a:xfrm>
          <a:prstGeom prst="rect">
            <a:avLst/>
          </a:prstGeom>
        </p:spPr>
        <p:txBody>
          <a:bodyPr anchor="t" rtlCol="false" tIns="0" lIns="0" bIns="0" rIns="0">
            <a:spAutoFit/>
          </a:bodyPr>
          <a:lstStyle/>
          <a:p>
            <a:pPr algn="l" marL="0" indent="0" lvl="1">
              <a:lnSpc>
                <a:spcPts val="8400"/>
              </a:lnSpc>
              <a:spcBef>
                <a:spcPct val="0"/>
              </a:spcBef>
            </a:pPr>
            <a:r>
              <a:rPr lang="en-US" b="true" sz="4200">
                <a:solidFill>
                  <a:srgbClr val="2E1E1A"/>
                </a:solidFill>
                <a:latin typeface="HK Grotesk Bold"/>
                <a:ea typeface="HK Grotesk Bold"/>
                <a:cs typeface="HK Grotesk Bold"/>
                <a:sym typeface="HK Grotesk Bold"/>
              </a:rPr>
              <a:t>Conclusion</a:t>
            </a:r>
          </a:p>
        </p:txBody>
      </p:sp>
      <p:grpSp>
        <p:nvGrpSpPr>
          <p:cNvPr name="Group 19" id="19"/>
          <p:cNvGrpSpPr/>
          <p:nvPr/>
        </p:nvGrpSpPr>
        <p:grpSpPr>
          <a:xfrm rot="0">
            <a:off x="7788453" y="7311203"/>
            <a:ext cx="771999" cy="771999"/>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E1E1A"/>
            </a:solidFill>
          </p:spPr>
        </p:sp>
      </p:grpSp>
      <p:sp>
        <p:nvSpPr>
          <p:cNvPr name="TextBox 21" id="21"/>
          <p:cNvSpPr txBox="true"/>
          <p:nvPr/>
        </p:nvSpPr>
        <p:spPr>
          <a:xfrm rot="0">
            <a:off x="7901847" y="7291247"/>
            <a:ext cx="545211" cy="678561"/>
          </a:xfrm>
          <a:prstGeom prst="rect">
            <a:avLst/>
          </a:prstGeom>
        </p:spPr>
        <p:txBody>
          <a:bodyPr anchor="t" rtlCol="false" tIns="0" lIns="0" bIns="0" rIns="0">
            <a:spAutoFit/>
          </a:bodyPr>
          <a:lstStyle/>
          <a:p>
            <a:pPr algn="ctr" marL="0" indent="0" lvl="1">
              <a:lnSpc>
                <a:spcPts val="5652"/>
              </a:lnSpc>
              <a:spcBef>
                <a:spcPct val="0"/>
              </a:spcBef>
            </a:pPr>
            <a:r>
              <a:rPr lang="en-US" b="true" sz="3600" u="none">
                <a:solidFill>
                  <a:srgbClr val="FEFEFE"/>
                </a:solidFill>
                <a:latin typeface="HK Grotesk Bold"/>
                <a:ea typeface="HK Grotesk Bold"/>
                <a:cs typeface="HK Grotesk Bold"/>
                <a:sym typeface="HK Grotesk Bold"/>
              </a:rPr>
              <a:t>5</a:t>
            </a:r>
          </a:p>
        </p:txBody>
      </p:sp>
      <p:sp>
        <p:nvSpPr>
          <p:cNvPr name="TextBox 22" id="22"/>
          <p:cNvSpPr txBox="true"/>
          <p:nvPr/>
        </p:nvSpPr>
        <p:spPr>
          <a:xfrm rot="0">
            <a:off x="2103753" y="2166228"/>
            <a:ext cx="4257587" cy="12287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2E1E1A"/>
                </a:solidFill>
                <a:latin typeface="HK Grotesk Bold"/>
                <a:ea typeface="HK Grotesk Bold"/>
                <a:cs typeface="HK Grotesk Bold"/>
                <a:sym typeface="HK Grotesk Bold"/>
              </a:rPr>
              <a:t>Agenda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5757"/>
        </a:solidFill>
      </p:bgPr>
    </p:bg>
    <p:spTree>
      <p:nvGrpSpPr>
        <p:cNvPr id="1" name=""/>
        <p:cNvGrpSpPr/>
        <p:nvPr/>
      </p:nvGrpSpPr>
      <p:grpSpPr>
        <a:xfrm>
          <a:off x="0" y="0"/>
          <a:ext cx="0" cy="0"/>
          <a:chOff x="0" y="0"/>
          <a:chExt cx="0" cy="0"/>
        </a:xfrm>
      </p:grpSpPr>
      <p:grpSp>
        <p:nvGrpSpPr>
          <p:cNvPr name="Group 2" id="2"/>
          <p:cNvGrpSpPr/>
          <p:nvPr/>
        </p:nvGrpSpPr>
        <p:grpSpPr>
          <a:xfrm rot="0">
            <a:off x="3396193" y="1315717"/>
            <a:ext cx="12741423" cy="7655565"/>
            <a:chOff x="0" y="0"/>
            <a:chExt cx="16988563" cy="10207420"/>
          </a:xfrm>
        </p:grpSpPr>
        <p:sp>
          <p:nvSpPr>
            <p:cNvPr name="TextBox 3" id="3"/>
            <p:cNvSpPr txBox="true"/>
            <p:nvPr/>
          </p:nvSpPr>
          <p:spPr>
            <a:xfrm rot="0">
              <a:off x="0" y="2471512"/>
              <a:ext cx="16988563" cy="7735908"/>
            </a:xfrm>
            <a:prstGeom prst="rect">
              <a:avLst/>
            </a:prstGeom>
          </p:spPr>
          <p:txBody>
            <a:bodyPr anchor="t" rtlCol="false" tIns="0" lIns="0" bIns="0" rIns="0">
              <a:spAutoFit/>
            </a:bodyPr>
            <a:lstStyle/>
            <a:p>
              <a:pPr algn="l" marL="0" indent="0" lvl="0">
                <a:lnSpc>
                  <a:spcPts val="3871"/>
                </a:lnSpc>
                <a:spcBef>
                  <a:spcPct val="0"/>
                </a:spcBef>
              </a:pPr>
              <a:r>
                <a:rPr lang="en-US" b="true" sz="2765">
                  <a:solidFill>
                    <a:srgbClr val="2E1E1A"/>
                  </a:solidFill>
                  <a:latin typeface="HK Grotesk Bold"/>
                  <a:ea typeface="HK Grotesk Bold"/>
                  <a:cs typeface="HK Grotesk Bold"/>
                  <a:sym typeface="HK Grotesk Bold"/>
                </a:rPr>
                <a:t>This project analyzes data from OKCupid, an app that focuses on using multiple choice and short answers to match users. The purpose of this project is to practice formulating questions and implementing machine learning techniques to answer those questions.</a:t>
              </a:r>
            </a:p>
            <a:p>
              <a:pPr algn="l" marL="0" indent="0" lvl="0">
                <a:lnSpc>
                  <a:spcPts val="3871"/>
                </a:lnSpc>
                <a:spcBef>
                  <a:spcPct val="0"/>
                </a:spcBef>
              </a:pPr>
            </a:p>
            <a:p>
              <a:pPr algn="l" marL="0" indent="0" lvl="0">
                <a:lnSpc>
                  <a:spcPts val="3871"/>
                </a:lnSpc>
                <a:spcBef>
                  <a:spcPct val="0"/>
                </a:spcBef>
              </a:pPr>
              <a:r>
                <a:rPr lang="en-US" b="true" sz="2765">
                  <a:solidFill>
                    <a:srgbClr val="2E1E1A"/>
                  </a:solidFill>
                  <a:latin typeface="HK Grotesk Bold"/>
                  <a:ea typeface="HK Grotesk Bold"/>
                  <a:cs typeface="HK Grotesk Bold"/>
                  <a:sym typeface="HK Grotesk Bold"/>
                </a:rPr>
                <a:t>This project focuses on using machine learning techniques to predict the zodiac signs of OKCupid users based on their profile features. By exploring various classification algorithms and evaluating their performance, we aim to determine whether user characteristics can meaningfully predict astrological sign. The analysis includes data cleaning, feature engineering, model training, and interpretation of results to assess the relationship between user attributes and zodiac signs.</a:t>
              </a:r>
            </a:p>
          </p:txBody>
        </p:sp>
        <p:sp>
          <p:nvSpPr>
            <p:cNvPr name="TextBox 4" id="4"/>
            <p:cNvSpPr txBox="true"/>
            <p:nvPr/>
          </p:nvSpPr>
          <p:spPr>
            <a:xfrm rot="0">
              <a:off x="0" y="152400"/>
              <a:ext cx="16988563" cy="1480398"/>
            </a:xfrm>
            <a:prstGeom prst="rect">
              <a:avLst/>
            </a:prstGeom>
          </p:spPr>
          <p:txBody>
            <a:bodyPr anchor="t" rtlCol="false" tIns="0" lIns="0" bIns="0" rIns="0">
              <a:spAutoFit/>
            </a:bodyPr>
            <a:lstStyle/>
            <a:p>
              <a:pPr algn="l" marL="0" indent="0" lvl="0">
                <a:lnSpc>
                  <a:spcPts val="8087"/>
                </a:lnSpc>
              </a:pPr>
              <a:r>
                <a:rPr lang="en-US" b="true" sz="8087">
                  <a:solidFill>
                    <a:srgbClr val="2E1E1A"/>
                  </a:solidFill>
                  <a:latin typeface="HK Grotesk Bold"/>
                  <a:ea typeface="HK Grotesk Bold"/>
                  <a:cs typeface="HK Grotesk Bold"/>
                  <a:sym typeface="HK Grotesk Bold"/>
                </a:rPr>
                <a:t>Project Overview and Focus</a:t>
              </a:r>
            </a:p>
          </p:txBody>
        </p:sp>
      </p:grpSp>
      <p:sp>
        <p:nvSpPr>
          <p:cNvPr name="Freeform 5" id="5"/>
          <p:cNvSpPr/>
          <p:nvPr/>
        </p:nvSpPr>
        <p:spPr>
          <a:xfrm flipH="false" flipV="false" rot="0">
            <a:off x="1266626" y="3777249"/>
            <a:ext cx="1367991" cy="2732501"/>
          </a:xfrm>
          <a:custGeom>
            <a:avLst/>
            <a:gdLst/>
            <a:ahLst/>
            <a:cxnLst/>
            <a:rect r="r" b="b" t="t" l="l"/>
            <a:pathLst>
              <a:path h="2732501" w="136799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5757"/>
        </a:solidFill>
      </p:bgPr>
    </p:bg>
    <p:spTree>
      <p:nvGrpSpPr>
        <p:cNvPr id="1" name=""/>
        <p:cNvGrpSpPr/>
        <p:nvPr/>
      </p:nvGrpSpPr>
      <p:grpSpPr>
        <a:xfrm>
          <a:off x="0" y="0"/>
          <a:ext cx="0" cy="0"/>
          <a:chOff x="0" y="0"/>
          <a:chExt cx="0" cy="0"/>
        </a:xfrm>
      </p:grpSpPr>
      <p:sp>
        <p:nvSpPr>
          <p:cNvPr name="TextBox 2" id="2"/>
          <p:cNvSpPr txBox="true"/>
          <p:nvPr/>
        </p:nvSpPr>
        <p:spPr>
          <a:xfrm rot="0">
            <a:off x="3877605" y="4603751"/>
            <a:ext cx="12741423" cy="1260474"/>
          </a:xfrm>
          <a:prstGeom prst="rect">
            <a:avLst/>
          </a:prstGeom>
        </p:spPr>
        <p:txBody>
          <a:bodyPr anchor="t" rtlCol="false" tIns="0" lIns="0" bIns="0" rIns="0">
            <a:spAutoFit/>
          </a:bodyPr>
          <a:lstStyle/>
          <a:p>
            <a:pPr algn="l" marL="0" indent="0" lvl="0">
              <a:lnSpc>
                <a:spcPts val="9499"/>
              </a:lnSpc>
            </a:pPr>
            <a:r>
              <a:rPr lang="en-US" b="true" sz="9499">
                <a:solidFill>
                  <a:srgbClr val="000000"/>
                </a:solidFill>
                <a:latin typeface="Open Sans 1 Bold"/>
                <a:ea typeface="Open Sans 1 Bold"/>
                <a:cs typeface="Open Sans 1 Bold"/>
                <a:sym typeface="Open Sans 1 Bold"/>
              </a:rPr>
              <a:t>Exploring the Data</a:t>
            </a:r>
          </a:p>
        </p:txBody>
      </p:sp>
      <p:sp>
        <p:nvSpPr>
          <p:cNvPr name="Freeform 3" id="3"/>
          <p:cNvSpPr/>
          <p:nvPr/>
        </p:nvSpPr>
        <p:spPr>
          <a:xfrm flipH="false" flipV="false" rot="0">
            <a:off x="1266626" y="3777249"/>
            <a:ext cx="1367991" cy="2732501"/>
          </a:xfrm>
          <a:custGeom>
            <a:avLst/>
            <a:gdLst/>
            <a:ahLst/>
            <a:cxnLst/>
            <a:rect r="r" b="b" t="t" l="l"/>
            <a:pathLst>
              <a:path h="2732501" w="136799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5757"/>
        </a:solidFill>
      </p:bgPr>
    </p:bg>
    <p:spTree>
      <p:nvGrpSpPr>
        <p:cNvPr id="1" name=""/>
        <p:cNvGrpSpPr/>
        <p:nvPr/>
      </p:nvGrpSpPr>
      <p:grpSpPr>
        <a:xfrm>
          <a:off x="0" y="0"/>
          <a:ext cx="0" cy="0"/>
          <a:chOff x="0" y="0"/>
          <a:chExt cx="0" cy="0"/>
        </a:xfrm>
      </p:grpSpPr>
      <p:grpSp>
        <p:nvGrpSpPr>
          <p:cNvPr name="Group 2" id="2"/>
          <p:cNvGrpSpPr/>
          <p:nvPr/>
        </p:nvGrpSpPr>
        <p:grpSpPr>
          <a:xfrm rot="0">
            <a:off x="8857041" y="0"/>
            <a:ext cx="9430959" cy="10287000"/>
            <a:chOff x="0" y="0"/>
            <a:chExt cx="2483874" cy="2709333"/>
          </a:xfrm>
        </p:grpSpPr>
        <p:sp>
          <p:nvSpPr>
            <p:cNvPr name="Freeform 3" id="3"/>
            <p:cNvSpPr/>
            <p:nvPr/>
          </p:nvSpPr>
          <p:spPr>
            <a:xfrm flipH="false" flipV="false" rot="0">
              <a:off x="0" y="0"/>
              <a:ext cx="2483874" cy="2709333"/>
            </a:xfrm>
            <a:custGeom>
              <a:avLst/>
              <a:gdLst/>
              <a:ahLst/>
              <a:cxnLst/>
              <a:rect r="r" b="b" t="t" l="l"/>
              <a:pathLst>
                <a:path h="2709333" w="2483874">
                  <a:moveTo>
                    <a:pt x="0" y="0"/>
                  </a:moveTo>
                  <a:lnTo>
                    <a:pt x="2483874" y="0"/>
                  </a:lnTo>
                  <a:lnTo>
                    <a:pt x="2483874" y="2709333"/>
                  </a:lnTo>
                  <a:lnTo>
                    <a:pt x="0" y="2709333"/>
                  </a:lnTo>
                  <a:close/>
                </a:path>
              </a:pathLst>
            </a:custGeom>
            <a:solidFill>
              <a:srgbClr val="FDFDFD"/>
            </a:solidFill>
          </p:spPr>
        </p:sp>
        <p:sp>
          <p:nvSpPr>
            <p:cNvPr name="TextBox 4" id="4"/>
            <p:cNvSpPr txBox="true"/>
            <p:nvPr/>
          </p:nvSpPr>
          <p:spPr>
            <a:xfrm>
              <a:off x="0" y="-57150"/>
              <a:ext cx="2483874" cy="2766483"/>
            </a:xfrm>
            <a:prstGeom prst="rect">
              <a:avLst/>
            </a:prstGeom>
          </p:spPr>
          <p:txBody>
            <a:bodyPr anchor="ctr" rtlCol="false" tIns="50800" lIns="50800" bIns="50800" rIns="50800"/>
            <a:lstStyle/>
            <a:p>
              <a:pPr algn="ctr">
                <a:lnSpc>
                  <a:spcPts val="3150"/>
                </a:lnSpc>
              </a:pPr>
            </a:p>
          </p:txBody>
        </p:sp>
      </p:grpSp>
      <p:sp>
        <p:nvSpPr>
          <p:cNvPr name="Freeform 5" id="5"/>
          <p:cNvSpPr/>
          <p:nvPr/>
        </p:nvSpPr>
        <p:spPr>
          <a:xfrm flipH="false" flipV="false" rot="0">
            <a:off x="9585409" y="2601716"/>
            <a:ext cx="7974223" cy="5083567"/>
          </a:xfrm>
          <a:custGeom>
            <a:avLst/>
            <a:gdLst/>
            <a:ahLst/>
            <a:cxnLst/>
            <a:rect r="r" b="b" t="t" l="l"/>
            <a:pathLst>
              <a:path h="5083567" w="7974223">
                <a:moveTo>
                  <a:pt x="0" y="0"/>
                </a:moveTo>
                <a:lnTo>
                  <a:pt x="7974223" y="0"/>
                </a:lnTo>
                <a:lnTo>
                  <a:pt x="7974223" y="5083568"/>
                </a:lnTo>
                <a:lnTo>
                  <a:pt x="0" y="5083568"/>
                </a:lnTo>
                <a:lnTo>
                  <a:pt x="0" y="0"/>
                </a:lnTo>
                <a:close/>
              </a:path>
            </a:pathLst>
          </a:custGeom>
          <a:blipFill>
            <a:blip r:embed="rId2"/>
            <a:stretch>
              <a:fillRect l="0" t="0" r="0" b="0"/>
            </a:stretch>
          </a:blipFill>
        </p:spPr>
      </p:sp>
      <p:sp>
        <p:nvSpPr>
          <p:cNvPr name="TextBox 6" id="6"/>
          <p:cNvSpPr txBox="true"/>
          <p:nvPr/>
        </p:nvSpPr>
        <p:spPr>
          <a:xfrm rot="0">
            <a:off x="1221556" y="1925716"/>
            <a:ext cx="5122944" cy="2314577"/>
          </a:xfrm>
          <a:prstGeom prst="rect">
            <a:avLst/>
          </a:prstGeom>
        </p:spPr>
        <p:txBody>
          <a:bodyPr anchor="t" rtlCol="false" tIns="0" lIns="0" bIns="0" rIns="0">
            <a:spAutoFit/>
          </a:bodyPr>
          <a:lstStyle/>
          <a:p>
            <a:pPr algn="ctr" marL="0" indent="0" lvl="0">
              <a:lnSpc>
                <a:spcPts val="8925"/>
              </a:lnSpc>
            </a:pPr>
            <a:r>
              <a:rPr lang="en-US" b="true" sz="8500">
                <a:solidFill>
                  <a:srgbClr val="000000"/>
                </a:solidFill>
                <a:latin typeface="Open Sans 1 Bold"/>
                <a:ea typeface="Open Sans 1 Bold"/>
                <a:cs typeface="Open Sans 1 Bold"/>
                <a:sym typeface="Open Sans 1 Bold"/>
              </a:rPr>
              <a:t>Age and Gender</a:t>
            </a:r>
          </a:p>
        </p:txBody>
      </p:sp>
      <p:sp>
        <p:nvSpPr>
          <p:cNvPr name="AutoShape 7" id="7"/>
          <p:cNvSpPr/>
          <p:nvPr/>
        </p:nvSpPr>
        <p:spPr>
          <a:xfrm>
            <a:off x="1221556" y="4931270"/>
            <a:ext cx="5122944" cy="0"/>
          </a:xfrm>
          <a:prstGeom prst="line">
            <a:avLst/>
          </a:prstGeom>
          <a:ln cap="flat" w="38100">
            <a:solidFill>
              <a:srgbClr val="FDFDFD"/>
            </a:solidFill>
            <a:prstDash val="solid"/>
            <a:headEnd type="none" len="sm" w="sm"/>
            <a:tailEnd type="none" len="sm" w="sm"/>
          </a:ln>
        </p:spPr>
      </p:sp>
      <p:sp>
        <p:nvSpPr>
          <p:cNvPr name="TextBox 8" id="8"/>
          <p:cNvSpPr txBox="true"/>
          <p:nvPr/>
        </p:nvSpPr>
        <p:spPr>
          <a:xfrm rot="0">
            <a:off x="1028700" y="5730335"/>
            <a:ext cx="7034794" cy="3527075"/>
          </a:xfrm>
          <a:prstGeom prst="rect">
            <a:avLst/>
          </a:prstGeom>
        </p:spPr>
        <p:txBody>
          <a:bodyPr anchor="t" rtlCol="false" tIns="0" lIns="0" bIns="0" rIns="0">
            <a:spAutoFit/>
          </a:bodyPr>
          <a:lstStyle/>
          <a:p>
            <a:pPr algn="l" marL="487524" indent="-243762" lvl="1">
              <a:lnSpc>
                <a:spcPts val="3161"/>
              </a:lnSpc>
              <a:buFont typeface="Arial"/>
              <a:buChar char="•"/>
            </a:pPr>
            <a:r>
              <a:rPr lang="en-US" sz="2258">
                <a:solidFill>
                  <a:srgbClr val="000000"/>
                </a:solidFill>
                <a:latin typeface="Open Sans 1"/>
                <a:ea typeface="Open Sans 1"/>
                <a:cs typeface="Open Sans 1"/>
                <a:sym typeface="Open Sans 1"/>
              </a:rPr>
              <a:t>The m</a:t>
            </a:r>
            <a:r>
              <a:rPr lang="en-US" sz="2258">
                <a:solidFill>
                  <a:srgbClr val="000000"/>
                </a:solidFill>
                <a:latin typeface="Open Sans 1"/>
                <a:ea typeface="Open Sans 1"/>
                <a:cs typeface="Open Sans 1"/>
                <a:sym typeface="Open Sans 1"/>
              </a:rPr>
              <a:t>ajority of OKCupid users are in their late 20s to early 30s.</a:t>
            </a:r>
          </a:p>
          <a:p>
            <a:pPr algn="l" marL="487524" indent="-243762" lvl="1">
              <a:lnSpc>
                <a:spcPts val="3161"/>
              </a:lnSpc>
              <a:buFont typeface="Arial"/>
              <a:buChar char="•"/>
            </a:pPr>
            <a:r>
              <a:rPr lang="en-US" sz="2258">
                <a:solidFill>
                  <a:srgbClr val="000000"/>
                </a:solidFill>
                <a:latin typeface="Open Sans 1"/>
                <a:ea typeface="Open Sans 1"/>
                <a:cs typeface="Open Sans 1"/>
                <a:sym typeface="Open Sans 1"/>
              </a:rPr>
              <a:t>The mean age is approximately 32.3 years, and the median is 30.</a:t>
            </a:r>
          </a:p>
          <a:p>
            <a:pPr algn="l" marL="487524" indent="-243762" lvl="1">
              <a:lnSpc>
                <a:spcPts val="3161"/>
              </a:lnSpc>
              <a:buFont typeface="Arial"/>
              <a:buChar char="•"/>
            </a:pPr>
            <a:r>
              <a:rPr lang="en-US" sz="2258">
                <a:solidFill>
                  <a:srgbClr val="000000"/>
                </a:solidFill>
                <a:latin typeface="Open Sans 1"/>
                <a:ea typeface="Open Sans 1"/>
                <a:cs typeface="Open Sans 1"/>
                <a:sym typeface="Open Sans 1"/>
              </a:rPr>
              <a:t>There are more men (35,825) than women (24,116) in the dataset.</a:t>
            </a:r>
          </a:p>
          <a:p>
            <a:pPr algn="l" marL="487524" indent="-243762" lvl="1">
              <a:lnSpc>
                <a:spcPts val="3161"/>
              </a:lnSpc>
              <a:buFont typeface="Arial"/>
              <a:buChar char="•"/>
            </a:pPr>
            <a:r>
              <a:rPr lang="en-US" sz="2258">
                <a:solidFill>
                  <a:srgbClr val="000000"/>
                </a:solidFill>
                <a:latin typeface="Open Sans 1"/>
                <a:ea typeface="Open Sans 1"/>
                <a:cs typeface="Open Sans 1"/>
                <a:sym typeface="Open Sans 1"/>
              </a:rPr>
              <a:t>The correlation between age and sex is very weak (0.042), suggesting that age and gender are nearly independent in this dataset.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5757"/>
        </a:solidFill>
      </p:bgPr>
    </p:bg>
    <p:spTree>
      <p:nvGrpSpPr>
        <p:cNvPr id="1" name=""/>
        <p:cNvGrpSpPr/>
        <p:nvPr/>
      </p:nvGrpSpPr>
      <p:grpSpPr>
        <a:xfrm>
          <a:off x="0" y="0"/>
          <a:ext cx="0" cy="0"/>
          <a:chOff x="0" y="0"/>
          <a:chExt cx="0" cy="0"/>
        </a:xfrm>
      </p:grpSpPr>
      <p:grpSp>
        <p:nvGrpSpPr>
          <p:cNvPr name="Group 2" id="2"/>
          <p:cNvGrpSpPr/>
          <p:nvPr/>
        </p:nvGrpSpPr>
        <p:grpSpPr>
          <a:xfrm rot="0">
            <a:off x="8857041" y="0"/>
            <a:ext cx="9430959" cy="10287000"/>
            <a:chOff x="0" y="0"/>
            <a:chExt cx="2483874" cy="2709333"/>
          </a:xfrm>
        </p:grpSpPr>
        <p:sp>
          <p:nvSpPr>
            <p:cNvPr name="Freeform 3" id="3"/>
            <p:cNvSpPr/>
            <p:nvPr/>
          </p:nvSpPr>
          <p:spPr>
            <a:xfrm flipH="false" flipV="false" rot="0">
              <a:off x="0" y="0"/>
              <a:ext cx="2483874" cy="2709333"/>
            </a:xfrm>
            <a:custGeom>
              <a:avLst/>
              <a:gdLst/>
              <a:ahLst/>
              <a:cxnLst/>
              <a:rect r="r" b="b" t="t" l="l"/>
              <a:pathLst>
                <a:path h="2709333" w="2483874">
                  <a:moveTo>
                    <a:pt x="0" y="0"/>
                  </a:moveTo>
                  <a:lnTo>
                    <a:pt x="2483874" y="0"/>
                  </a:lnTo>
                  <a:lnTo>
                    <a:pt x="2483874" y="2709333"/>
                  </a:lnTo>
                  <a:lnTo>
                    <a:pt x="0" y="2709333"/>
                  </a:lnTo>
                  <a:close/>
                </a:path>
              </a:pathLst>
            </a:custGeom>
            <a:solidFill>
              <a:srgbClr val="F9FAFA"/>
            </a:solidFill>
          </p:spPr>
        </p:sp>
        <p:sp>
          <p:nvSpPr>
            <p:cNvPr name="TextBox 4" id="4"/>
            <p:cNvSpPr txBox="true"/>
            <p:nvPr/>
          </p:nvSpPr>
          <p:spPr>
            <a:xfrm>
              <a:off x="0" y="-57150"/>
              <a:ext cx="2483874" cy="2766483"/>
            </a:xfrm>
            <a:prstGeom prst="rect">
              <a:avLst/>
            </a:prstGeom>
          </p:spPr>
          <p:txBody>
            <a:bodyPr anchor="ctr" rtlCol="false" tIns="50800" lIns="50800" bIns="50800" rIns="50800"/>
            <a:lstStyle/>
            <a:p>
              <a:pPr algn="ctr">
                <a:lnSpc>
                  <a:spcPts val="3150"/>
                </a:lnSpc>
              </a:pPr>
            </a:p>
          </p:txBody>
        </p:sp>
      </p:grpSp>
      <p:grpSp>
        <p:nvGrpSpPr>
          <p:cNvPr name="Group 5" id="5"/>
          <p:cNvGrpSpPr/>
          <p:nvPr/>
        </p:nvGrpSpPr>
        <p:grpSpPr>
          <a:xfrm rot="0">
            <a:off x="8857041" y="0"/>
            <a:ext cx="9430959" cy="7088199"/>
            <a:chOff x="0" y="0"/>
            <a:chExt cx="1081443" cy="812800"/>
          </a:xfrm>
        </p:grpSpPr>
        <p:sp>
          <p:nvSpPr>
            <p:cNvPr name="Freeform 6" id="6"/>
            <p:cNvSpPr/>
            <p:nvPr/>
          </p:nvSpPr>
          <p:spPr>
            <a:xfrm flipH="false" flipV="false" rot="0">
              <a:off x="0" y="0"/>
              <a:ext cx="1081443" cy="812800"/>
            </a:xfrm>
            <a:custGeom>
              <a:avLst/>
              <a:gdLst/>
              <a:ahLst/>
              <a:cxnLst/>
              <a:rect r="r" b="b" t="t" l="l"/>
              <a:pathLst>
                <a:path h="812800" w="1081443">
                  <a:moveTo>
                    <a:pt x="0" y="0"/>
                  </a:moveTo>
                  <a:lnTo>
                    <a:pt x="1081443" y="0"/>
                  </a:lnTo>
                  <a:lnTo>
                    <a:pt x="1081443" y="812800"/>
                  </a:lnTo>
                  <a:lnTo>
                    <a:pt x="0" y="812800"/>
                  </a:lnTo>
                  <a:close/>
                </a:path>
              </a:pathLst>
            </a:custGeom>
            <a:blipFill>
              <a:blip r:embed="rId2"/>
              <a:stretch>
                <a:fillRect l="-537" t="0" r="-537" b="0"/>
              </a:stretch>
            </a:blipFill>
          </p:spPr>
        </p:sp>
      </p:grpSp>
      <p:sp>
        <p:nvSpPr>
          <p:cNvPr name="TextBox 7" id="7"/>
          <p:cNvSpPr txBox="true"/>
          <p:nvPr/>
        </p:nvSpPr>
        <p:spPr>
          <a:xfrm rot="0">
            <a:off x="10288618" y="7476398"/>
            <a:ext cx="6567806" cy="2061621"/>
          </a:xfrm>
          <a:prstGeom prst="rect">
            <a:avLst/>
          </a:prstGeom>
        </p:spPr>
        <p:txBody>
          <a:bodyPr anchor="t" rtlCol="false" tIns="0" lIns="0" bIns="0" rIns="0">
            <a:spAutoFit/>
          </a:bodyPr>
          <a:lstStyle/>
          <a:p>
            <a:pPr algn="l" marL="0" indent="0" lvl="0">
              <a:lnSpc>
                <a:spcPts val="2314"/>
              </a:lnSpc>
            </a:pPr>
            <a:r>
              <a:rPr lang="en-US" sz="2204">
                <a:solidFill>
                  <a:srgbClr val="000000"/>
                </a:solidFill>
                <a:latin typeface="Canva Sans"/>
                <a:ea typeface="Canva Sans"/>
                <a:cs typeface="Canva Sans"/>
                <a:sym typeface="Canva Sans"/>
              </a:rPr>
              <a:t>This bar plot above shows the percentage distribution of each zodiac sign among OKCupid users. </a:t>
            </a:r>
          </a:p>
          <a:p>
            <a:pPr algn="l" marL="0" indent="0" lvl="0">
              <a:lnSpc>
                <a:spcPts val="2314"/>
              </a:lnSpc>
            </a:pPr>
          </a:p>
          <a:p>
            <a:pPr algn="l" marL="0" indent="0" lvl="0">
              <a:lnSpc>
                <a:spcPts val="2314"/>
              </a:lnSpc>
            </a:pPr>
            <a:r>
              <a:rPr lang="en-US" sz="2204">
                <a:solidFill>
                  <a:srgbClr val="000000"/>
                </a:solidFill>
                <a:latin typeface="Canva Sans"/>
                <a:ea typeface="Canva Sans"/>
                <a:cs typeface="Canva Sans"/>
                <a:sym typeface="Canva Sans"/>
              </a:rPr>
              <a:t>Each bar represents a zodiac sign, and the length of the bar indicates its proportion in the dataset. </a:t>
            </a:r>
          </a:p>
        </p:txBody>
      </p:sp>
      <p:sp>
        <p:nvSpPr>
          <p:cNvPr name="TextBox 8" id="8"/>
          <p:cNvSpPr txBox="true"/>
          <p:nvPr/>
        </p:nvSpPr>
        <p:spPr>
          <a:xfrm rot="0">
            <a:off x="1391861" y="2766880"/>
            <a:ext cx="5772138" cy="6491420"/>
          </a:xfrm>
          <a:prstGeom prst="rect">
            <a:avLst/>
          </a:prstGeom>
        </p:spPr>
        <p:txBody>
          <a:bodyPr anchor="t" rtlCol="false" tIns="0" lIns="0" bIns="0" rIns="0">
            <a:spAutoFit/>
          </a:bodyPr>
          <a:lstStyle/>
          <a:p>
            <a:pPr algn="l" marL="0" indent="0" lvl="0">
              <a:lnSpc>
                <a:spcPts val="3057"/>
              </a:lnSpc>
            </a:pPr>
            <a:r>
              <a:rPr lang="en-US" b="true" sz="2183">
                <a:solidFill>
                  <a:srgbClr val="000000"/>
                </a:solidFill>
                <a:latin typeface="Canva Sans Bold"/>
                <a:ea typeface="Canva Sans Bold"/>
                <a:cs typeface="Canva Sans Bold"/>
                <a:sym typeface="Canva Sans Bold"/>
              </a:rPr>
              <a:t>Key Insights</a:t>
            </a:r>
            <a:r>
              <a:rPr lang="en-US" sz="2183">
                <a:solidFill>
                  <a:srgbClr val="000000"/>
                </a:solidFill>
                <a:latin typeface="Canva Sans"/>
                <a:ea typeface="Canva Sans"/>
                <a:cs typeface="Canva Sans"/>
                <a:sym typeface="Canva Sans"/>
              </a:rPr>
              <a:t>:</a:t>
            </a:r>
          </a:p>
          <a:p>
            <a:pPr algn="l" marL="471452" indent="-235726" lvl="1">
              <a:lnSpc>
                <a:spcPts val="3057"/>
              </a:lnSpc>
              <a:buFont typeface="Arial"/>
              <a:buChar char="•"/>
            </a:pPr>
            <a:r>
              <a:rPr lang="en-US" sz="2183">
                <a:solidFill>
                  <a:srgbClr val="000000"/>
                </a:solidFill>
                <a:latin typeface="Canva Sans"/>
                <a:ea typeface="Canva Sans"/>
                <a:cs typeface="Canva Sans"/>
                <a:sym typeface="Canva Sans"/>
              </a:rPr>
              <a:t>All twelve zodiac signs are represented in the dataset, with some variation in their frequencies.</a:t>
            </a:r>
          </a:p>
          <a:p>
            <a:pPr algn="l" marL="471452" indent="-235726" lvl="1">
              <a:lnSpc>
                <a:spcPts val="3057"/>
              </a:lnSpc>
              <a:buFont typeface="Arial"/>
              <a:buChar char="•"/>
            </a:pPr>
            <a:r>
              <a:rPr lang="en-US" sz="2183">
                <a:solidFill>
                  <a:srgbClr val="000000"/>
                </a:solidFill>
                <a:latin typeface="Canva Sans"/>
                <a:ea typeface="Canva Sans"/>
                <a:cs typeface="Canva Sans"/>
                <a:sym typeface="Canva Sans"/>
              </a:rPr>
              <a:t>The distribution is relatively even, though certain signs may be slightly more or less common.</a:t>
            </a:r>
          </a:p>
          <a:p>
            <a:pPr algn="l" marL="471452" indent="-235726" lvl="1">
              <a:lnSpc>
                <a:spcPts val="3057"/>
              </a:lnSpc>
              <a:buFont typeface="Arial"/>
              <a:buChar char="•"/>
            </a:pPr>
            <a:r>
              <a:rPr lang="en-US" sz="2183">
                <a:solidFill>
                  <a:srgbClr val="000000"/>
                </a:solidFill>
                <a:latin typeface="Canva Sans"/>
                <a:ea typeface="Canva Sans"/>
                <a:cs typeface="Canva Sans"/>
                <a:sym typeface="Canva Sans"/>
              </a:rPr>
              <a:t>This evenness suggests that users' zodiac signs are not heavily skewed or underrepresented, providing a balanced target variable for subsequent modeling.</a:t>
            </a:r>
          </a:p>
          <a:p>
            <a:pPr algn="l" marL="471452" indent="-235726" lvl="1">
              <a:lnSpc>
                <a:spcPts val="3057"/>
              </a:lnSpc>
              <a:buFont typeface="Arial"/>
              <a:buChar char="•"/>
            </a:pPr>
            <a:r>
              <a:rPr lang="en-US" sz="2183">
                <a:solidFill>
                  <a:srgbClr val="000000"/>
                </a:solidFill>
                <a:latin typeface="Canva Sans"/>
                <a:ea typeface="Canva Sans"/>
                <a:cs typeface="Canva Sans"/>
                <a:sym typeface="Canva Sans"/>
              </a:rPr>
              <a:t>Understanding the distribution of zodiac signs is important for interpreting model results and ensuring that no class imbalance will bias the predictive analysis.</a:t>
            </a:r>
          </a:p>
        </p:txBody>
      </p:sp>
      <p:sp>
        <p:nvSpPr>
          <p:cNvPr name="TextBox 9" id="9"/>
          <p:cNvSpPr txBox="true"/>
          <p:nvPr/>
        </p:nvSpPr>
        <p:spPr>
          <a:xfrm rot="0">
            <a:off x="3156287" y="-178157"/>
            <a:ext cx="2243286" cy="1936753"/>
          </a:xfrm>
          <a:prstGeom prst="rect">
            <a:avLst/>
          </a:prstGeom>
        </p:spPr>
        <p:txBody>
          <a:bodyPr anchor="t" rtlCol="false" tIns="0" lIns="0" bIns="0" rIns="0">
            <a:spAutoFit/>
          </a:bodyPr>
          <a:lstStyle/>
          <a:p>
            <a:pPr algn="ctr">
              <a:lnSpc>
                <a:spcPts val="16999"/>
              </a:lnSpc>
              <a:spcBef>
                <a:spcPct val="0"/>
              </a:spcBef>
            </a:pPr>
            <a:r>
              <a:rPr lang="en-US" b="true" sz="8499">
                <a:solidFill>
                  <a:srgbClr val="000000"/>
                </a:solidFill>
                <a:latin typeface="Open Sans 2 Bold"/>
                <a:ea typeface="Open Sans 2 Bold"/>
                <a:cs typeface="Open Sans 2 Bold"/>
                <a:sym typeface="Open Sans 2 Bold"/>
              </a:rPr>
              <a:t>Sign</a:t>
            </a:r>
          </a:p>
        </p:txBody>
      </p:sp>
      <p:sp>
        <p:nvSpPr>
          <p:cNvPr name="AutoShape 10" id="10"/>
          <p:cNvSpPr/>
          <p:nvPr/>
        </p:nvSpPr>
        <p:spPr>
          <a:xfrm>
            <a:off x="1716459" y="2281788"/>
            <a:ext cx="5122944" cy="0"/>
          </a:xfrm>
          <a:prstGeom prst="line">
            <a:avLst/>
          </a:prstGeom>
          <a:ln cap="flat" w="38100">
            <a:solidFill>
              <a:srgbClr val="FDFDFD"/>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5757"/>
        </a:solidFill>
      </p:bgPr>
    </p:bg>
    <p:spTree>
      <p:nvGrpSpPr>
        <p:cNvPr id="1" name=""/>
        <p:cNvGrpSpPr/>
        <p:nvPr/>
      </p:nvGrpSpPr>
      <p:grpSpPr>
        <a:xfrm>
          <a:off x="0" y="0"/>
          <a:ext cx="0" cy="0"/>
          <a:chOff x="0" y="0"/>
          <a:chExt cx="0" cy="0"/>
        </a:xfrm>
      </p:grpSpPr>
      <p:sp>
        <p:nvSpPr>
          <p:cNvPr name="TextBox 2" id="2"/>
          <p:cNvSpPr txBox="true"/>
          <p:nvPr/>
        </p:nvSpPr>
        <p:spPr>
          <a:xfrm rot="0">
            <a:off x="3877605" y="4003676"/>
            <a:ext cx="12741423" cy="2460624"/>
          </a:xfrm>
          <a:prstGeom prst="rect">
            <a:avLst/>
          </a:prstGeom>
        </p:spPr>
        <p:txBody>
          <a:bodyPr anchor="t" rtlCol="false" tIns="0" lIns="0" bIns="0" rIns="0">
            <a:spAutoFit/>
          </a:bodyPr>
          <a:lstStyle/>
          <a:p>
            <a:pPr algn="l">
              <a:lnSpc>
                <a:spcPts val="9499"/>
              </a:lnSpc>
            </a:pPr>
            <a:r>
              <a:rPr lang="en-US" sz="9499" b="true">
                <a:solidFill>
                  <a:srgbClr val="000000"/>
                </a:solidFill>
                <a:latin typeface="Open Sans 1 Bold"/>
                <a:ea typeface="Open Sans 1 Bold"/>
                <a:cs typeface="Open Sans 1 Bold"/>
                <a:sym typeface="Open Sans 1 Bold"/>
              </a:rPr>
              <a:t>Preprocessing</a:t>
            </a:r>
          </a:p>
          <a:p>
            <a:pPr algn="l" marL="0" indent="0" lvl="0">
              <a:lnSpc>
                <a:spcPts val="9499"/>
              </a:lnSpc>
            </a:pPr>
            <a:r>
              <a:rPr lang="en-US" b="true" sz="9499">
                <a:solidFill>
                  <a:srgbClr val="000000"/>
                </a:solidFill>
                <a:latin typeface="Open Sans 1 Bold"/>
                <a:ea typeface="Open Sans 1 Bold"/>
                <a:cs typeface="Open Sans 1 Bold"/>
                <a:sym typeface="Open Sans 1 Bold"/>
              </a:rPr>
              <a:t> the Data</a:t>
            </a:r>
          </a:p>
        </p:txBody>
      </p:sp>
      <p:sp>
        <p:nvSpPr>
          <p:cNvPr name="Freeform 3" id="3"/>
          <p:cNvSpPr/>
          <p:nvPr/>
        </p:nvSpPr>
        <p:spPr>
          <a:xfrm flipH="false" flipV="false" rot="0">
            <a:off x="1266626" y="3777249"/>
            <a:ext cx="1367991" cy="2732501"/>
          </a:xfrm>
          <a:custGeom>
            <a:avLst/>
            <a:gdLst/>
            <a:ahLst/>
            <a:cxnLst/>
            <a:rect r="r" b="b" t="t" l="l"/>
            <a:pathLst>
              <a:path h="2732501" w="136799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p:cSld>
    <p:bg>
      <p:bgPr>
        <a:solidFill>
          <a:srgbClr val="FF5757"/>
        </a:solidFill>
      </p:bgPr>
    </p:bg>
    <p:spTree>
      <p:nvGrpSpPr>
        <p:cNvPr id="1" name=""/>
        <p:cNvGrpSpPr/>
        <p:nvPr/>
      </p:nvGrpSpPr>
      <p:grpSpPr>
        <a:xfrm>
          <a:off x="0" y="0"/>
          <a:ext cx="0" cy="0"/>
          <a:chOff x="0" y="0"/>
          <a:chExt cx="0" cy="0"/>
        </a:xfrm>
      </p:grpSpPr>
      <p:sp>
        <p:nvSpPr>
          <p:cNvPr name="AutoShape 2" id="2"/>
          <p:cNvSpPr/>
          <p:nvPr/>
        </p:nvSpPr>
        <p:spPr>
          <a:xfrm rot="0">
            <a:off x="2810039" y="1848664"/>
            <a:ext cx="5651799" cy="7135402"/>
          </a:xfrm>
          <a:prstGeom prst="rect">
            <a:avLst/>
          </a:prstGeom>
          <a:solidFill>
            <a:srgbClr val="DF3840"/>
          </a:solidFill>
        </p:spPr>
      </p:sp>
      <p:sp>
        <p:nvSpPr>
          <p:cNvPr name="AutoShape 3" id="3"/>
          <p:cNvSpPr/>
          <p:nvPr/>
        </p:nvSpPr>
        <p:spPr>
          <a:xfrm rot="0">
            <a:off x="2264309" y="1302934"/>
            <a:ext cx="5651799" cy="7135402"/>
          </a:xfrm>
          <a:prstGeom prst="rect">
            <a:avLst/>
          </a:prstGeom>
          <a:solidFill>
            <a:srgbClr val="FFFFFF"/>
          </a:solidFill>
        </p:spPr>
      </p:sp>
      <p:sp>
        <p:nvSpPr>
          <p:cNvPr name="AutoShape 4" id="4"/>
          <p:cNvSpPr/>
          <p:nvPr/>
        </p:nvSpPr>
        <p:spPr>
          <a:xfrm rot="0">
            <a:off x="10371891" y="1848664"/>
            <a:ext cx="5651799" cy="7135402"/>
          </a:xfrm>
          <a:prstGeom prst="rect">
            <a:avLst/>
          </a:prstGeom>
          <a:solidFill>
            <a:srgbClr val="DF3840">
              <a:alpha val="97647"/>
            </a:srgbClr>
          </a:solidFill>
        </p:spPr>
      </p:sp>
      <p:sp>
        <p:nvSpPr>
          <p:cNvPr name="AutoShape 5" id="5"/>
          <p:cNvSpPr/>
          <p:nvPr/>
        </p:nvSpPr>
        <p:spPr>
          <a:xfrm rot="0">
            <a:off x="9826162" y="1302934"/>
            <a:ext cx="5651799" cy="7135402"/>
          </a:xfrm>
          <a:prstGeom prst="rect">
            <a:avLst/>
          </a:prstGeom>
          <a:solidFill>
            <a:srgbClr val="FFFFFF"/>
          </a:solidFill>
        </p:spPr>
      </p:sp>
      <p:grpSp>
        <p:nvGrpSpPr>
          <p:cNvPr name="Group 6" id="6"/>
          <p:cNvGrpSpPr/>
          <p:nvPr/>
        </p:nvGrpSpPr>
        <p:grpSpPr>
          <a:xfrm rot="0">
            <a:off x="3178904" y="2844275"/>
            <a:ext cx="3822611" cy="4052721"/>
            <a:chOff x="0" y="0"/>
            <a:chExt cx="5096814" cy="5403629"/>
          </a:xfrm>
        </p:grpSpPr>
        <p:sp>
          <p:nvSpPr>
            <p:cNvPr name="TextBox 7" id="7"/>
            <p:cNvSpPr txBox="true"/>
            <p:nvPr/>
          </p:nvSpPr>
          <p:spPr>
            <a:xfrm rot="0">
              <a:off x="0" y="0"/>
              <a:ext cx="5096814" cy="1295400"/>
            </a:xfrm>
            <a:prstGeom prst="rect">
              <a:avLst/>
            </a:prstGeom>
          </p:spPr>
          <p:txBody>
            <a:bodyPr anchor="t" rtlCol="false" tIns="0" lIns="0" bIns="0" rIns="0">
              <a:spAutoFit/>
            </a:bodyPr>
            <a:lstStyle/>
            <a:p>
              <a:pPr algn="ctr" marL="0" indent="0" lvl="0">
                <a:lnSpc>
                  <a:spcPts val="3851"/>
                </a:lnSpc>
              </a:pPr>
              <a:r>
                <a:rPr lang="en-US" b="true" sz="3209" spc="-64">
                  <a:solidFill>
                    <a:srgbClr val="000000"/>
                  </a:solidFill>
                  <a:latin typeface="Open Sans 2 Bold"/>
                  <a:ea typeface="Open Sans 2 Bold"/>
                  <a:cs typeface="Open Sans 2 Bold"/>
                  <a:sym typeface="Open Sans 2 Bold"/>
                </a:rPr>
                <a:t>Sign to Sign Cleaned</a:t>
              </a:r>
            </a:p>
          </p:txBody>
        </p:sp>
        <p:sp>
          <p:nvSpPr>
            <p:cNvPr name="TextBox 8" id="8"/>
            <p:cNvSpPr txBox="true"/>
            <p:nvPr/>
          </p:nvSpPr>
          <p:spPr>
            <a:xfrm rot="0">
              <a:off x="495300" y="1705490"/>
              <a:ext cx="4106215" cy="3698138"/>
            </a:xfrm>
            <a:prstGeom prst="rect">
              <a:avLst/>
            </a:prstGeom>
          </p:spPr>
          <p:txBody>
            <a:bodyPr anchor="t" rtlCol="false" tIns="0" lIns="0" bIns="0" rIns="0">
              <a:spAutoFit/>
            </a:bodyPr>
            <a:lstStyle/>
            <a:p>
              <a:pPr algn="ctr" marL="0" indent="0" lvl="0">
                <a:lnSpc>
                  <a:spcPts val="2792"/>
                </a:lnSpc>
              </a:pPr>
              <a:r>
                <a:rPr lang="en-US" b="true" sz="1745" spc="-34">
                  <a:solidFill>
                    <a:srgbClr val="000000"/>
                  </a:solidFill>
                  <a:latin typeface="Open Sans 2 Bold"/>
                  <a:ea typeface="Open Sans 2 Bold"/>
                  <a:cs typeface="Open Sans 2 Bold"/>
                  <a:sym typeface="Open Sans 2 Bold"/>
                </a:rPr>
                <a:t>Initially, the dataset contained 48 unique signs, making it essential to clean the sign data and create a new column for the cleaned sign data that aligns with the standard set of 12 zodiac signs.</a:t>
              </a:r>
            </a:p>
          </p:txBody>
        </p:sp>
      </p:grpSp>
      <p:grpSp>
        <p:nvGrpSpPr>
          <p:cNvPr name="Group 9" id="9"/>
          <p:cNvGrpSpPr/>
          <p:nvPr/>
        </p:nvGrpSpPr>
        <p:grpSpPr>
          <a:xfrm rot="0">
            <a:off x="10740756" y="2844275"/>
            <a:ext cx="3822611" cy="4052721"/>
            <a:chOff x="0" y="0"/>
            <a:chExt cx="5096814" cy="5403629"/>
          </a:xfrm>
        </p:grpSpPr>
        <p:sp>
          <p:nvSpPr>
            <p:cNvPr name="TextBox 10" id="10"/>
            <p:cNvSpPr txBox="true"/>
            <p:nvPr/>
          </p:nvSpPr>
          <p:spPr>
            <a:xfrm rot="0">
              <a:off x="0" y="0"/>
              <a:ext cx="5096814" cy="1295400"/>
            </a:xfrm>
            <a:prstGeom prst="rect">
              <a:avLst/>
            </a:prstGeom>
          </p:spPr>
          <p:txBody>
            <a:bodyPr anchor="t" rtlCol="false" tIns="0" lIns="0" bIns="0" rIns="0">
              <a:spAutoFit/>
            </a:bodyPr>
            <a:lstStyle/>
            <a:p>
              <a:pPr algn="ctr" marL="0" indent="0" lvl="0">
                <a:lnSpc>
                  <a:spcPts val="3851"/>
                </a:lnSpc>
              </a:pPr>
              <a:r>
                <a:rPr lang="en-US" b="true" sz="3209" spc="-64">
                  <a:solidFill>
                    <a:srgbClr val="000000"/>
                  </a:solidFill>
                  <a:latin typeface="Open Sans 2 Bold"/>
                  <a:ea typeface="Open Sans 2 Bold"/>
                  <a:cs typeface="Open Sans 2 Bold"/>
                  <a:sym typeface="Open Sans 2 Bold"/>
                </a:rPr>
                <a:t>Religion to Religion Cleaned</a:t>
              </a:r>
            </a:p>
          </p:txBody>
        </p:sp>
        <p:sp>
          <p:nvSpPr>
            <p:cNvPr name="TextBox 11" id="11"/>
            <p:cNvSpPr txBox="true"/>
            <p:nvPr/>
          </p:nvSpPr>
          <p:spPr>
            <a:xfrm rot="0">
              <a:off x="495300" y="1705490"/>
              <a:ext cx="4106215" cy="3698138"/>
            </a:xfrm>
            <a:prstGeom prst="rect">
              <a:avLst/>
            </a:prstGeom>
          </p:spPr>
          <p:txBody>
            <a:bodyPr anchor="t" rtlCol="false" tIns="0" lIns="0" bIns="0" rIns="0">
              <a:spAutoFit/>
            </a:bodyPr>
            <a:lstStyle/>
            <a:p>
              <a:pPr algn="ctr" marL="0" indent="0" lvl="0">
                <a:lnSpc>
                  <a:spcPts val="2792"/>
                </a:lnSpc>
              </a:pPr>
              <a:r>
                <a:rPr lang="en-US" b="true" sz="1745" spc="-34">
                  <a:solidFill>
                    <a:srgbClr val="000000"/>
                  </a:solidFill>
                  <a:latin typeface="Open Sans 2 Bold"/>
                  <a:ea typeface="Open Sans 2 Bold"/>
                  <a:cs typeface="Open Sans 2 Bold"/>
                  <a:sym typeface="Open Sans 2 Bold"/>
                </a:rPr>
                <a:t>The dataset initially included 45 unique religions, necessitating the cleaning of this data. After cleaning, a new column was created for the refined religion data, resulting in 9 distinct categories.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5757"/>
        </a:solidFill>
      </p:bgPr>
    </p:bg>
    <p:spTree>
      <p:nvGrpSpPr>
        <p:cNvPr id="1" name=""/>
        <p:cNvGrpSpPr/>
        <p:nvPr/>
      </p:nvGrpSpPr>
      <p:grpSpPr>
        <a:xfrm>
          <a:off x="0" y="0"/>
          <a:ext cx="0" cy="0"/>
          <a:chOff x="0" y="0"/>
          <a:chExt cx="0" cy="0"/>
        </a:xfrm>
      </p:grpSpPr>
      <p:sp>
        <p:nvSpPr>
          <p:cNvPr name="AutoShape 2" id="2"/>
          <p:cNvSpPr/>
          <p:nvPr/>
        </p:nvSpPr>
        <p:spPr>
          <a:xfrm rot="0">
            <a:off x="0" y="2626834"/>
            <a:ext cx="18288000" cy="1532033"/>
          </a:xfrm>
          <a:prstGeom prst="rect">
            <a:avLst/>
          </a:prstGeom>
          <a:solidFill>
            <a:srgbClr val="FFFFFF"/>
          </a:solidFill>
        </p:spPr>
      </p:sp>
      <p:sp>
        <p:nvSpPr>
          <p:cNvPr name="AutoShape 3" id="3"/>
          <p:cNvSpPr/>
          <p:nvPr/>
        </p:nvSpPr>
        <p:spPr>
          <a:xfrm rot="0">
            <a:off x="0" y="4158867"/>
            <a:ext cx="18288000" cy="1532033"/>
          </a:xfrm>
          <a:prstGeom prst="rect">
            <a:avLst/>
          </a:prstGeom>
          <a:solidFill>
            <a:srgbClr val="DF3840"/>
          </a:solidFill>
        </p:spPr>
      </p:sp>
      <p:sp>
        <p:nvSpPr>
          <p:cNvPr name="AutoShape 4" id="4"/>
          <p:cNvSpPr/>
          <p:nvPr/>
        </p:nvSpPr>
        <p:spPr>
          <a:xfrm rot="0">
            <a:off x="0" y="5690901"/>
            <a:ext cx="18288000" cy="1532033"/>
          </a:xfrm>
          <a:prstGeom prst="rect">
            <a:avLst/>
          </a:prstGeom>
          <a:solidFill>
            <a:srgbClr val="FFFFFF"/>
          </a:solidFill>
        </p:spPr>
      </p:sp>
      <p:sp>
        <p:nvSpPr>
          <p:cNvPr name="AutoShape 5" id="5"/>
          <p:cNvSpPr/>
          <p:nvPr/>
        </p:nvSpPr>
        <p:spPr>
          <a:xfrm rot="0">
            <a:off x="0" y="7222934"/>
            <a:ext cx="18288000" cy="1532033"/>
          </a:xfrm>
          <a:prstGeom prst="rect">
            <a:avLst/>
          </a:prstGeom>
          <a:solidFill>
            <a:srgbClr val="DF3840"/>
          </a:solidFill>
        </p:spPr>
      </p:sp>
      <p:sp>
        <p:nvSpPr>
          <p:cNvPr name="AutoShape 6" id="6"/>
          <p:cNvSpPr/>
          <p:nvPr/>
        </p:nvSpPr>
        <p:spPr>
          <a:xfrm rot="0">
            <a:off x="0" y="8754967"/>
            <a:ext cx="18288000" cy="1532033"/>
          </a:xfrm>
          <a:prstGeom prst="rect">
            <a:avLst/>
          </a:prstGeom>
          <a:solidFill>
            <a:srgbClr val="FFFFFF"/>
          </a:solidFill>
        </p:spPr>
      </p:sp>
      <p:sp>
        <p:nvSpPr>
          <p:cNvPr name="Freeform 7" id="7"/>
          <p:cNvSpPr/>
          <p:nvPr/>
        </p:nvSpPr>
        <p:spPr>
          <a:xfrm flipH="false" flipV="false" rot="0">
            <a:off x="1028700" y="2892272"/>
            <a:ext cx="1001158" cy="1001158"/>
          </a:xfrm>
          <a:custGeom>
            <a:avLst/>
            <a:gdLst/>
            <a:ahLst/>
            <a:cxnLst/>
            <a:rect r="r" b="b" t="t" l="l"/>
            <a:pathLst>
              <a:path h="1001158" w="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028700" y="803106"/>
            <a:ext cx="16230600" cy="1057275"/>
          </a:xfrm>
          <a:prstGeom prst="rect">
            <a:avLst/>
          </a:prstGeom>
        </p:spPr>
        <p:txBody>
          <a:bodyPr anchor="t" rtlCol="false" tIns="0" lIns="0" bIns="0" rIns="0">
            <a:spAutoFit/>
          </a:bodyPr>
          <a:lstStyle/>
          <a:p>
            <a:pPr algn="ctr" marL="0" indent="0" lvl="0">
              <a:lnSpc>
                <a:spcPts val="8399"/>
              </a:lnSpc>
            </a:pPr>
            <a:r>
              <a:rPr lang="en-US" b="true" sz="6999">
                <a:solidFill>
                  <a:srgbClr val="000000"/>
                </a:solidFill>
                <a:latin typeface="Open Sans 2 Bold"/>
                <a:ea typeface="Open Sans 2 Bold"/>
                <a:cs typeface="Open Sans 2 Bold"/>
                <a:sym typeface="Open Sans 2 Bold"/>
              </a:rPr>
              <a:t>Preprocessing Data Steps</a:t>
            </a:r>
          </a:p>
        </p:txBody>
      </p:sp>
      <p:sp>
        <p:nvSpPr>
          <p:cNvPr name="TextBox 9" id="9"/>
          <p:cNvSpPr txBox="true"/>
          <p:nvPr/>
        </p:nvSpPr>
        <p:spPr>
          <a:xfrm rot="0">
            <a:off x="3319510" y="3148376"/>
            <a:ext cx="11492801" cy="431800"/>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00000"/>
                </a:solidFill>
                <a:latin typeface="Open Sans 2"/>
                <a:ea typeface="Open Sans 2"/>
                <a:cs typeface="Open Sans 2"/>
                <a:sym typeface="Open Sans 2"/>
              </a:rPr>
              <a:t>Column selection and subsetting</a:t>
            </a:r>
          </a:p>
        </p:txBody>
      </p:sp>
      <p:sp>
        <p:nvSpPr>
          <p:cNvPr name="TextBox 10" id="10"/>
          <p:cNvSpPr txBox="true"/>
          <p:nvPr/>
        </p:nvSpPr>
        <p:spPr>
          <a:xfrm rot="0">
            <a:off x="1290982" y="3135676"/>
            <a:ext cx="476593" cy="514350"/>
          </a:xfrm>
          <a:prstGeom prst="rect">
            <a:avLst/>
          </a:prstGeom>
        </p:spPr>
        <p:txBody>
          <a:bodyPr anchor="t" rtlCol="false" tIns="0" lIns="0" bIns="0" rIns="0">
            <a:spAutoFit/>
          </a:bodyPr>
          <a:lstStyle/>
          <a:p>
            <a:pPr algn="ctr">
              <a:lnSpc>
                <a:spcPts val="4079"/>
              </a:lnSpc>
            </a:pPr>
            <a:r>
              <a:rPr lang="en-US" b="true" sz="3399">
                <a:solidFill>
                  <a:srgbClr val="000000"/>
                </a:solidFill>
                <a:latin typeface="Open Sans 2 Bold"/>
                <a:ea typeface="Open Sans 2 Bold"/>
                <a:cs typeface="Open Sans 2 Bold"/>
                <a:sym typeface="Open Sans 2 Bold"/>
              </a:rPr>
              <a:t>1</a:t>
            </a:r>
          </a:p>
        </p:txBody>
      </p:sp>
      <p:sp>
        <p:nvSpPr>
          <p:cNvPr name="TextBox 11" id="11"/>
          <p:cNvSpPr txBox="true"/>
          <p:nvPr/>
        </p:nvSpPr>
        <p:spPr>
          <a:xfrm rot="0">
            <a:off x="3319510" y="4680409"/>
            <a:ext cx="11492801" cy="431800"/>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00000"/>
                </a:solidFill>
                <a:latin typeface="Open Sans 2"/>
                <a:ea typeface="Open Sans 2"/>
                <a:cs typeface="Open Sans 2"/>
                <a:sym typeface="Open Sans 2"/>
              </a:rPr>
              <a:t>One-hot encoding</a:t>
            </a:r>
          </a:p>
        </p:txBody>
      </p:sp>
      <p:sp>
        <p:nvSpPr>
          <p:cNvPr name="Freeform 12" id="12"/>
          <p:cNvSpPr/>
          <p:nvPr/>
        </p:nvSpPr>
        <p:spPr>
          <a:xfrm flipH="false" flipV="false" rot="0">
            <a:off x="1028700" y="4424305"/>
            <a:ext cx="1001158" cy="1001158"/>
          </a:xfrm>
          <a:custGeom>
            <a:avLst/>
            <a:gdLst/>
            <a:ahLst/>
            <a:cxnLst/>
            <a:rect r="r" b="b" t="t" l="l"/>
            <a:pathLst>
              <a:path h="1001158" w="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277739" y="4667709"/>
            <a:ext cx="476593" cy="514350"/>
          </a:xfrm>
          <a:prstGeom prst="rect">
            <a:avLst/>
          </a:prstGeom>
        </p:spPr>
        <p:txBody>
          <a:bodyPr anchor="t" rtlCol="false" tIns="0" lIns="0" bIns="0" rIns="0">
            <a:spAutoFit/>
          </a:bodyPr>
          <a:lstStyle/>
          <a:p>
            <a:pPr algn="ctr">
              <a:lnSpc>
                <a:spcPts val="4079"/>
              </a:lnSpc>
            </a:pPr>
            <a:r>
              <a:rPr lang="en-US" b="true" sz="3399">
                <a:solidFill>
                  <a:srgbClr val="000000"/>
                </a:solidFill>
                <a:latin typeface="Open Sans 2 Bold"/>
                <a:ea typeface="Open Sans 2 Bold"/>
                <a:cs typeface="Open Sans 2 Bold"/>
                <a:sym typeface="Open Sans 2 Bold"/>
              </a:rPr>
              <a:t>2</a:t>
            </a:r>
          </a:p>
        </p:txBody>
      </p:sp>
      <p:sp>
        <p:nvSpPr>
          <p:cNvPr name="TextBox 14" id="14"/>
          <p:cNvSpPr txBox="true"/>
          <p:nvPr/>
        </p:nvSpPr>
        <p:spPr>
          <a:xfrm rot="0">
            <a:off x="3319510" y="6212442"/>
            <a:ext cx="11492801" cy="431800"/>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00000"/>
                </a:solidFill>
                <a:latin typeface="Open Sans 2"/>
                <a:ea typeface="Open Sans 2"/>
                <a:cs typeface="Open Sans 2"/>
                <a:sym typeface="Open Sans 2"/>
              </a:rPr>
              <a:t>Verification of encoding</a:t>
            </a:r>
          </a:p>
        </p:txBody>
      </p:sp>
      <p:sp>
        <p:nvSpPr>
          <p:cNvPr name="Freeform 15" id="15"/>
          <p:cNvSpPr/>
          <p:nvPr/>
        </p:nvSpPr>
        <p:spPr>
          <a:xfrm flipH="false" flipV="false" rot="0">
            <a:off x="1015456" y="5956338"/>
            <a:ext cx="1001158" cy="1001158"/>
          </a:xfrm>
          <a:custGeom>
            <a:avLst/>
            <a:gdLst/>
            <a:ahLst/>
            <a:cxnLst/>
            <a:rect r="r" b="b" t="t" l="l"/>
            <a:pathLst>
              <a:path h="1001158" w="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1277739" y="6199742"/>
            <a:ext cx="476593" cy="514350"/>
          </a:xfrm>
          <a:prstGeom prst="rect">
            <a:avLst/>
          </a:prstGeom>
        </p:spPr>
        <p:txBody>
          <a:bodyPr anchor="t" rtlCol="false" tIns="0" lIns="0" bIns="0" rIns="0">
            <a:spAutoFit/>
          </a:bodyPr>
          <a:lstStyle/>
          <a:p>
            <a:pPr algn="ctr">
              <a:lnSpc>
                <a:spcPts val="4079"/>
              </a:lnSpc>
            </a:pPr>
            <a:r>
              <a:rPr lang="en-US" b="true" sz="3399">
                <a:solidFill>
                  <a:srgbClr val="000000"/>
                </a:solidFill>
                <a:latin typeface="Open Sans 2 Bold"/>
                <a:ea typeface="Open Sans 2 Bold"/>
                <a:cs typeface="Open Sans 2 Bold"/>
                <a:sym typeface="Open Sans 2 Bold"/>
              </a:rPr>
              <a:t>3</a:t>
            </a:r>
          </a:p>
        </p:txBody>
      </p:sp>
      <p:sp>
        <p:nvSpPr>
          <p:cNvPr name="TextBox 17" id="17"/>
          <p:cNvSpPr txBox="true"/>
          <p:nvPr/>
        </p:nvSpPr>
        <p:spPr>
          <a:xfrm rot="0">
            <a:off x="3319510" y="7744475"/>
            <a:ext cx="11492801" cy="431800"/>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00000"/>
                </a:solidFill>
                <a:latin typeface="Open Sans 2"/>
                <a:ea typeface="Open Sans 2"/>
                <a:cs typeface="Open Sans 2"/>
                <a:sym typeface="Open Sans 2"/>
              </a:rPr>
              <a:t>Target distribution check</a:t>
            </a:r>
          </a:p>
        </p:txBody>
      </p:sp>
      <p:sp>
        <p:nvSpPr>
          <p:cNvPr name="Freeform 18" id="18"/>
          <p:cNvSpPr/>
          <p:nvPr/>
        </p:nvSpPr>
        <p:spPr>
          <a:xfrm flipH="false" flipV="false" rot="0">
            <a:off x="1028700" y="7488371"/>
            <a:ext cx="1001158" cy="1001158"/>
          </a:xfrm>
          <a:custGeom>
            <a:avLst/>
            <a:gdLst/>
            <a:ahLst/>
            <a:cxnLst/>
            <a:rect r="r" b="b" t="t" l="l"/>
            <a:pathLst>
              <a:path h="1001158" w="1001158">
                <a:moveTo>
                  <a:pt x="0" y="0"/>
                </a:moveTo>
                <a:lnTo>
                  <a:pt x="1001158" y="0"/>
                </a:lnTo>
                <a:lnTo>
                  <a:pt x="1001158" y="1001158"/>
                </a:lnTo>
                <a:lnTo>
                  <a:pt x="0" y="10011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9" id="19"/>
          <p:cNvSpPr txBox="true"/>
          <p:nvPr/>
        </p:nvSpPr>
        <p:spPr>
          <a:xfrm rot="0">
            <a:off x="1277739" y="7731775"/>
            <a:ext cx="476593" cy="514350"/>
          </a:xfrm>
          <a:prstGeom prst="rect">
            <a:avLst/>
          </a:prstGeom>
        </p:spPr>
        <p:txBody>
          <a:bodyPr anchor="t" rtlCol="false" tIns="0" lIns="0" bIns="0" rIns="0">
            <a:spAutoFit/>
          </a:bodyPr>
          <a:lstStyle/>
          <a:p>
            <a:pPr algn="ctr">
              <a:lnSpc>
                <a:spcPts val="4079"/>
              </a:lnSpc>
            </a:pPr>
            <a:r>
              <a:rPr lang="en-US" b="true" sz="3399">
                <a:solidFill>
                  <a:srgbClr val="000000"/>
                </a:solidFill>
                <a:latin typeface="Open Sans 2 Bold"/>
                <a:ea typeface="Open Sans 2 Bold"/>
                <a:cs typeface="Open Sans 2 Bold"/>
                <a:sym typeface="Open Sans 2 Bold"/>
              </a:rPr>
              <a:t>4</a:t>
            </a:r>
          </a:p>
        </p:txBody>
      </p:sp>
      <p:sp>
        <p:nvSpPr>
          <p:cNvPr name="TextBox 20" id="20"/>
          <p:cNvSpPr txBox="true"/>
          <p:nvPr/>
        </p:nvSpPr>
        <p:spPr>
          <a:xfrm rot="0">
            <a:off x="3319510" y="9276509"/>
            <a:ext cx="11492801" cy="431800"/>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00000"/>
                </a:solidFill>
                <a:latin typeface="Open Sans 2"/>
                <a:ea typeface="Open Sans 2"/>
                <a:cs typeface="Open Sans 2"/>
                <a:sym typeface="Open Sans 2"/>
              </a:rPr>
              <a:t>Train/validation split</a:t>
            </a:r>
          </a:p>
        </p:txBody>
      </p:sp>
      <p:sp>
        <p:nvSpPr>
          <p:cNvPr name="Freeform 21" id="21"/>
          <p:cNvSpPr/>
          <p:nvPr/>
        </p:nvSpPr>
        <p:spPr>
          <a:xfrm flipH="false" flipV="false" rot="0">
            <a:off x="1028700" y="9020405"/>
            <a:ext cx="1001158" cy="1001158"/>
          </a:xfrm>
          <a:custGeom>
            <a:avLst/>
            <a:gdLst/>
            <a:ahLst/>
            <a:cxnLst/>
            <a:rect r="r" b="b" t="t" l="l"/>
            <a:pathLst>
              <a:path h="1001158" w="1001158">
                <a:moveTo>
                  <a:pt x="0" y="0"/>
                </a:moveTo>
                <a:lnTo>
                  <a:pt x="1001158" y="0"/>
                </a:lnTo>
                <a:lnTo>
                  <a:pt x="1001158" y="1001157"/>
                </a:lnTo>
                <a:lnTo>
                  <a:pt x="0" y="10011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2" id="22"/>
          <p:cNvSpPr txBox="true"/>
          <p:nvPr/>
        </p:nvSpPr>
        <p:spPr>
          <a:xfrm rot="0">
            <a:off x="1277739" y="9263808"/>
            <a:ext cx="476593" cy="514350"/>
          </a:xfrm>
          <a:prstGeom prst="rect">
            <a:avLst/>
          </a:prstGeom>
        </p:spPr>
        <p:txBody>
          <a:bodyPr anchor="t" rtlCol="false" tIns="0" lIns="0" bIns="0" rIns="0">
            <a:spAutoFit/>
          </a:bodyPr>
          <a:lstStyle/>
          <a:p>
            <a:pPr algn="ctr">
              <a:lnSpc>
                <a:spcPts val="4079"/>
              </a:lnSpc>
            </a:pPr>
            <a:r>
              <a:rPr lang="en-US" b="true" sz="3399">
                <a:solidFill>
                  <a:srgbClr val="000000"/>
                </a:solidFill>
                <a:latin typeface="Open Sans 2 Bold"/>
                <a:ea typeface="Open Sans 2 Bold"/>
                <a:cs typeface="Open Sans 2 Bold"/>
                <a:sym typeface="Open Sans 2 Bold"/>
              </a:rPr>
              <a:t>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5757"/>
        </a:solidFill>
      </p:bgPr>
    </p:bg>
    <p:spTree>
      <p:nvGrpSpPr>
        <p:cNvPr id="1" name=""/>
        <p:cNvGrpSpPr/>
        <p:nvPr/>
      </p:nvGrpSpPr>
      <p:grpSpPr>
        <a:xfrm>
          <a:off x="0" y="0"/>
          <a:ext cx="0" cy="0"/>
          <a:chOff x="0" y="0"/>
          <a:chExt cx="0" cy="0"/>
        </a:xfrm>
      </p:grpSpPr>
      <p:sp>
        <p:nvSpPr>
          <p:cNvPr name="TextBox 2" id="2"/>
          <p:cNvSpPr txBox="true"/>
          <p:nvPr/>
        </p:nvSpPr>
        <p:spPr>
          <a:xfrm rot="0">
            <a:off x="3877605" y="4603751"/>
            <a:ext cx="12741423" cy="1260474"/>
          </a:xfrm>
          <a:prstGeom prst="rect">
            <a:avLst/>
          </a:prstGeom>
        </p:spPr>
        <p:txBody>
          <a:bodyPr anchor="t" rtlCol="false" tIns="0" lIns="0" bIns="0" rIns="0">
            <a:spAutoFit/>
          </a:bodyPr>
          <a:lstStyle/>
          <a:p>
            <a:pPr algn="l" marL="0" indent="0" lvl="0">
              <a:lnSpc>
                <a:spcPts val="9499"/>
              </a:lnSpc>
            </a:pPr>
            <a:r>
              <a:rPr lang="en-US" b="true" sz="9499">
                <a:solidFill>
                  <a:srgbClr val="000000"/>
                </a:solidFill>
                <a:latin typeface="Open Sans 1 Bold"/>
                <a:ea typeface="Open Sans 1 Bold"/>
                <a:cs typeface="Open Sans 1 Bold"/>
                <a:sym typeface="Open Sans 1 Bold"/>
              </a:rPr>
              <a:t>Building the Models</a:t>
            </a:r>
          </a:p>
        </p:txBody>
      </p:sp>
      <p:sp>
        <p:nvSpPr>
          <p:cNvPr name="Freeform 3" id="3"/>
          <p:cNvSpPr/>
          <p:nvPr/>
        </p:nvSpPr>
        <p:spPr>
          <a:xfrm flipH="false" flipV="false" rot="0">
            <a:off x="1266626" y="3777249"/>
            <a:ext cx="1367991" cy="2732501"/>
          </a:xfrm>
          <a:custGeom>
            <a:avLst/>
            <a:gdLst/>
            <a:ahLst/>
            <a:cxnLst/>
            <a:rect r="r" b="b" t="t" l="l"/>
            <a:pathLst>
              <a:path h="2732501" w="1367991">
                <a:moveTo>
                  <a:pt x="0" y="0"/>
                </a:moveTo>
                <a:lnTo>
                  <a:pt x="1367991" y="0"/>
                </a:lnTo>
                <a:lnTo>
                  <a:pt x="1367991" y="2732502"/>
                </a:lnTo>
                <a:lnTo>
                  <a:pt x="0" y="2732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5757"/>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812800" cy="914400"/>
          </a:xfrm>
        </p:grpSpPr>
        <p:sp>
          <p:nvSpPr>
            <p:cNvPr name="Freeform 3" id="3"/>
            <p:cNvSpPr/>
            <p:nvPr/>
          </p:nvSpPr>
          <p:spPr>
            <a:xfrm flipH="false" flipV="false" rot="0">
              <a:off x="0" y="0"/>
              <a:ext cx="812800" cy="914400"/>
            </a:xfrm>
            <a:custGeom>
              <a:avLst/>
              <a:gdLst/>
              <a:ahLst/>
              <a:cxnLst/>
              <a:rect r="r" b="b" t="t" l="l"/>
              <a:pathLst>
                <a:path h="914400" w="812800">
                  <a:moveTo>
                    <a:pt x="0" y="0"/>
                  </a:moveTo>
                  <a:lnTo>
                    <a:pt x="812800" y="0"/>
                  </a:lnTo>
                  <a:lnTo>
                    <a:pt x="812800" y="914400"/>
                  </a:lnTo>
                  <a:lnTo>
                    <a:pt x="0" y="914400"/>
                  </a:lnTo>
                  <a:close/>
                </a:path>
              </a:pathLst>
            </a:custGeom>
            <a:blipFill>
              <a:blip r:embed="rId2"/>
              <a:stretch>
                <a:fillRect l="-4281" t="0" r="-4281" b="0"/>
              </a:stretch>
            </a:blipFill>
          </p:spPr>
        </p:sp>
      </p:grpSp>
      <p:sp>
        <p:nvSpPr>
          <p:cNvPr name="Freeform 4" id="4"/>
          <p:cNvSpPr/>
          <p:nvPr/>
        </p:nvSpPr>
        <p:spPr>
          <a:xfrm flipH="false" flipV="false" rot="0">
            <a:off x="1432526" y="4621133"/>
            <a:ext cx="5957137" cy="3537050"/>
          </a:xfrm>
          <a:custGeom>
            <a:avLst/>
            <a:gdLst/>
            <a:ahLst/>
            <a:cxnLst/>
            <a:rect r="r" b="b" t="t" l="l"/>
            <a:pathLst>
              <a:path h="3537050" w="5957137">
                <a:moveTo>
                  <a:pt x="0" y="0"/>
                </a:moveTo>
                <a:lnTo>
                  <a:pt x="5957138" y="0"/>
                </a:lnTo>
                <a:lnTo>
                  <a:pt x="5957138" y="3537051"/>
                </a:lnTo>
                <a:lnTo>
                  <a:pt x="0" y="3537051"/>
                </a:lnTo>
                <a:lnTo>
                  <a:pt x="0" y="0"/>
                </a:lnTo>
                <a:close/>
              </a:path>
            </a:pathLst>
          </a:custGeom>
          <a:blipFill>
            <a:blip r:embed="rId3"/>
            <a:stretch>
              <a:fillRect l="0" t="0" r="0" b="0"/>
            </a:stretch>
          </a:blipFill>
        </p:spPr>
      </p:sp>
      <p:sp>
        <p:nvSpPr>
          <p:cNvPr name="TextBox 5" id="5"/>
          <p:cNvSpPr txBox="true"/>
          <p:nvPr/>
        </p:nvSpPr>
        <p:spPr>
          <a:xfrm rot="0">
            <a:off x="1213668" y="442912"/>
            <a:ext cx="6394855" cy="1171575"/>
          </a:xfrm>
          <a:prstGeom prst="rect">
            <a:avLst/>
          </a:prstGeom>
        </p:spPr>
        <p:txBody>
          <a:bodyPr anchor="t" rtlCol="false" tIns="0" lIns="0" bIns="0" rIns="0">
            <a:spAutoFit/>
          </a:bodyPr>
          <a:lstStyle/>
          <a:p>
            <a:pPr algn="ctr" marL="0" indent="0" lvl="0">
              <a:lnSpc>
                <a:spcPts val="9240"/>
              </a:lnSpc>
              <a:spcBef>
                <a:spcPct val="0"/>
              </a:spcBef>
            </a:pPr>
            <a:r>
              <a:rPr lang="en-US" sz="7700">
                <a:solidFill>
                  <a:srgbClr val="F5F8FB"/>
                </a:solidFill>
                <a:latin typeface="Canva Sans"/>
                <a:ea typeface="Canva Sans"/>
                <a:cs typeface="Canva Sans"/>
                <a:sym typeface="Canva Sans"/>
              </a:rPr>
              <a:t>The Models</a:t>
            </a:r>
          </a:p>
        </p:txBody>
      </p:sp>
      <p:sp>
        <p:nvSpPr>
          <p:cNvPr name="TextBox 6" id="6"/>
          <p:cNvSpPr txBox="true"/>
          <p:nvPr/>
        </p:nvSpPr>
        <p:spPr>
          <a:xfrm rot="0">
            <a:off x="1213668" y="8661587"/>
            <a:ext cx="6394855" cy="1298575"/>
          </a:xfrm>
          <a:prstGeom prst="rect">
            <a:avLst/>
          </a:prstGeom>
        </p:spPr>
        <p:txBody>
          <a:bodyPr anchor="t" rtlCol="false" tIns="0" lIns="0" bIns="0" rIns="0">
            <a:spAutoFit/>
          </a:bodyPr>
          <a:lstStyle/>
          <a:p>
            <a:pPr algn="l" marL="0" indent="0" lvl="0">
              <a:lnSpc>
                <a:spcPts val="2600"/>
              </a:lnSpc>
            </a:pPr>
            <a:r>
              <a:rPr lang="en-US" sz="2000">
                <a:solidFill>
                  <a:srgbClr val="F5F8FB"/>
                </a:solidFill>
                <a:latin typeface="Canva Sans"/>
                <a:ea typeface="Canva Sans"/>
                <a:cs typeface="Canva Sans"/>
                <a:sym typeface="Canva Sans"/>
              </a:rPr>
              <a:t>The chart above compares the accuracy of the three machine learning mo</a:t>
            </a:r>
            <a:r>
              <a:rPr lang="en-US" sz="2000">
                <a:solidFill>
                  <a:srgbClr val="F5F8FB"/>
                </a:solidFill>
                <a:latin typeface="Canva Sans"/>
                <a:ea typeface="Canva Sans"/>
                <a:cs typeface="Canva Sans"/>
                <a:sym typeface="Canva Sans"/>
              </a:rPr>
              <a:t>dels—Logistic Regression, K-Nearest Neighbors (KNN), and Decision Tree—on the zodiac sign prediction task.</a:t>
            </a:r>
          </a:p>
        </p:txBody>
      </p:sp>
      <p:sp>
        <p:nvSpPr>
          <p:cNvPr name="TextBox 7" id="7"/>
          <p:cNvSpPr txBox="true"/>
          <p:nvPr/>
        </p:nvSpPr>
        <p:spPr>
          <a:xfrm rot="0">
            <a:off x="1341722" y="2040816"/>
            <a:ext cx="6394855" cy="2270125"/>
          </a:xfrm>
          <a:prstGeom prst="rect">
            <a:avLst/>
          </a:prstGeom>
        </p:spPr>
        <p:txBody>
          <a:bodyPr anchor="t" rtlCol="false" tIns="0" lIns="0" bIns="0" rIns="0">
            <a:spAutoFit/>
          </a:bodyPr>
          <a:lstStyle/>
          <a:p>
            <a:pPr algn="l" marL="0" indent="0" lvl="0">
              <a:lnSpc>
                <a:spcPts val="2600"/>
              </a:lnSpc>
            </a:pPr>
            <a:r>
              <a:rPr lang="en-US" sz="2000">
                <a:solidFill>
                  <a:srgbClr val="F5F8FB"/>
                </a:solidFill>
                <a:latin typeface="Canva Sans"/>
                <a:ea typeface="Canva Sans"/>
                <a:cs typeface="Canva Sans"/>
                <a:sym typeface="Canva Sans"/>
              </a:rPr>
              <a:t>The confusion matrix shows that the KNN classifier struggles with zodiac sign predictions, with scattered predictions and few strong diagonals, indicating frequent misclassification. The low accuracy (~9.1%) is barely above random guessing (8.3% for 12 classes), suggesting the features lack predictive power.</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F5757"/>
        </a:solidFill>
      </p:bgPr>
    </p:bg>
    <p:spTree>
      <p:nvGrpSpPr>
        <p:cNvPr id="1" name=""/>
        <p:cNvGrpSpPr/>
        <p:nvPr/>
      </p:nvGrpSpPr>
      <p:grpSpPr>
        <a:xfrm>
          <a:off x="0" y="0"/>
          <a:ext cx="0" cy="0"/>
          <a:chOff x="0" y="0"/>
          <a:chExt cx="0" cy="0"/>
        </a:xfrm>
      </p:grpSpPr>
      <p:sp>
        <p:nvSpPr>
          <p:cNvPr name="TextBox 2" id="2"/>
          <p:cNvSpPr txBox="true"/>
          <p:nvPr/>
        </p:nvSpPr>
        <p:spPr>
          <a:xfrm rot="0">
            <a:off x="1460392" y="1680480"/>
            <a:ext cx="13610879" cy="1285875"/>
          </a:xfrm>
          <a:prstGeom prst="rect">
            <a:avLst/>
          </a:prstGeom>
        </p:spPr>
        <p:txBody>
          <a:bodyPr anchor="t" rtlCol="false" tIns="0" lIns="0" bIns="0" rIns="0">
            <a:spAutoFit/>
          </a:bodyPr>
          <a:lstStyle/>
          <a:p>
            <a:pPr algn="l" marL="0" indent="0" lvl="0">
              <a:lnSpc>
                <a:spcPts val="10199"/>
              </a:lnSpc>
            </a:pPr>
            <a:r>
              <a:rPr lang="en-US" b="true" sz="8499">
                <a:solidFill>
                  <a:srgbClr val="000000"/>
                </a:solidFill>
                <a:latin typeface="Open Sans 2 Bold"/>
                <a:ea typeface="Open Sans 2 Bold"/>
                <a:cs typeface="Open Sans 2 Bold"/>
                <a:sym typeface="Open Sans 2 Bold"/>
              </a:rPr>
              <a:t>Conclusion</a:t>
            </a:r>
          </a:p>
        </p:txBody>
      </p:sp>
      <p:sp>
        <p:nvSpPr>
          <p:cNvPr name="AutoShape 3" id="3"/>
          <p:cNvSpPr/>
          <p:nvPr/>
        </p:nvSpPr>
        <p:spPr>
          <a:xfrm rot="0">
            <a:off x="1460392" y="1028700"/>
            <a:ext cx="15367217" cy="0"/>
          </a:xfrm>
          <a:prstGeom prst="line">
            <a:avLst/>
          </a:prstGeom>
          <a:ln cap="rnd" w="28575">
            <a:solidFill>
              <a:srgbClr val="FFFFFF"/>
            </a:solidFill>
            <a:prstDash val="solid"/>
            <a:headEnd type="none" len="sm" w="sm"/>
            <a:tailEnd type="none" len="sm" w="sm"/>
          </a:ln>
        </p:spPr>
      </p:sp>
      <p:grpSp>
        <p:nvGrpSpPr>
          <p:cNvPr name="Group 4" id="4"/>
          <p:cNvGrpSpPr/>
          <p:nvPr/>
        </p:nvGrpSpPr>
        <p:grpSpPr>
          <a:xfrm rot="0">
            <a:off x="1460392" y="3204498"/>
            <a:ext cx="15367217" cy="6053802"/>
            <a:chOff x="0" y="0"/>
            <a:chExt cx="20489622" cy="8071737"/>
          </a:xfrm>
        </p:grpSpPr>
        <p:sp>
          <p:nvSpPr>
            <p:cNvPr name="TextBox 5" id="5"/>
            <p:cNvSpPr txBox="true"/>
            <p:nvPr/>
          </p:nvSpPr>
          <p:spPr>
            <a:xfrm rot="0">
              <a:off x="0" y="681703"/>
              <a:ext cx="20489622" cy="6673396"/>
            </a:xfrm>
            <a:prstGeom prst="rect">
              <a:avLst/>
            </a:prstGeom>
          </p:spPr>
          <p:txBody>
            <a:bodyPr anchor="t" rtlCol="false" tIns="0" lIns="0" bIns="0" rIns="0">
              <a:spAutoFit/>
            </a:bodyPr>
            <a:lstStyle/>
            <a:p>
              <a:pPr algn="l" marL="0" indent="0" lvl="0">
                <a:lnSpc>
                  <a:spcPts val="2228"/>
                </a:lnSpc>
              </a:pPr>
              <a:r>
                <a:rPr lang="en-US" sz="1714">
                  <a:solidFill>
                    <a:srgbClr val="000000"/>
                  </a:solidFill>
                  <a:latin typeface="Open Sans 2"/>
                  <a:ea typeface="Open Sans 2"/>
                  <a:cs typeface="Open Sans 2"/>
                  <a:sym typeface="Open Sans 2"/>
                </a:rPr>
                <a:t>Our analysis examined whether machine learning models could predict OKCupid users' zodiac signs based on profile features like body type, diet, orientation, pets, religion, sex, and job. We used various classification algorithms, including Logistic Regression, K-Nearest Neighbors, and Decision Trees, with one-hot encoded features and standardized data.</a:t>
              </a:r>
            </a:p>
            <a:p>
              <a:pPr algn="l" marL="0" indent="0" lvl="0">
                <a:lnSpc>
                  <a:spcPts val="3900"/>
                </a:lnSpc>
              </a:pPr>
            </a:p>
            <a:p>
              <a:pPr algn="l" marL="0" indent="0" lvl="0">
                <a:lnSpc>
                  <a:spcPts val="3900"/>
                </a:lnSpc>
              </a:pPr>
              <a:r>
                <a:rPr lang="en-US" b="true" sz="3000">
                  <a:solidFill>
                    <a:srgbClr val="000000"/>
                  </a:solidFill>
                  <a:latin typeface="Open Sans 2 Bold"/>
                  <a:ea typeface="Open Sans 2 Bold"/>
                  <a:cs typeface="Open Sans 2 Bold"/>
                  <a:sym typeface="Open Sans 2 Bold"/>
                </a:rPr>
                <a:t>Key Findings:</a:t>
              </a:r>
            </a:p>
            <a:p>
              <a:pPr algn="l" marL="0" indent="0" lvl="0">
                <a:lnSpc>
                  <a:spcPts val="2228"/>
                </a:lnSpc>
              </a:pPr>
            </a:p>
            <a:p>
              <a:pPr algn="l" marL="370114" indent="-185057" lvl="1">
                <a:lnSpc>
                  <a:spcPts val="2228"/>
                </a:lnSpc>
                <a:buFont typeface="Arial"/>
                <a:buChar char="•"/>
              </a:pPr>
              <a:r>
                <a:rPr lang="en-US" sz="1714">
                  <a:solidFill>
                    <a:srgbClr val="000000"/>
                  </a:solidFill>
                  <a:latin typeface="Open Sans 2"/>
                  <a:ea typeface="Open Sans 2"/>
                  <a:cs typeface="Open Sans 2"/>
                  <a:sym typeface="Open Sans 2"/>
                </a:rPr>
                <a:t>All models had low accuracy (8–9%), slightly better than random guessing (~8.3% for 12 zodiac signs).</a:t>
              </a:r>
            </a:p>
            <a:p>
              <a:pPr algn="l" marL="370114" indent="-185057" lvl="1">
                <a:lnSpc>
                  <a:spcPts val="2228"/>
                </a:lnSpc>
                <a:buFont typeface="Arial"/>
                <a:buChar char="•"/>
              </a:pPr>
              <a:r>
                <a:rPr lang="en-US" sz="1714">
                  <a:solidFill>
                    <a:srgbClr val="000000"/>
                  </a:solidFill>
                  <a:latin typeface="Open Sans 2"/>
                  <a:ea typeface="Open Sans 2"/>
                  <a:cs typeface="Open Sans 2"/>
                  <a:sym typeface="Open Sans 2"/>
                </a:rPr>
                <a:t>Precision, recall, and F1-scores were low across all zodiac signs, indicating poor model performance.</a:t>
              </a:r>
            </a:p>
            <a:p>
              <a:pPr algn="l" marL="370114" indent="-185057" lvl="1">
                <a:lnSpc>
                  <a:spcPts val="2228"/>
                </a:lnSpc>
                <a:buFont typeface="Arial"/>
                <a:buChar char="•"/>
              </a:pPr>
              <a:r>
                <a:rPr lang="en-US" sz="1714">
                  <a:solidFill>
                    <a:srgbClr val="000000"/>
                  </a:solidFill>
                  <a:latin typeface="Open Sans 2"/>
                  <a:ea typeface="Open Sans 2"/>
                  <a:cs typeface="Open Sans 2"/>
                  <a:sym typeface="Open Sans 2"/>
                </a:rPr>
                <a:t>Confusion matrices showed scattered predictions with no strong patterns.</a:t>
              </a:r>
            </a:p>
            <a:p>
              <a:pPr algn="l" marL="370114" indent="-185057" lvl="1">
                <a:lnSpc>
                  <a:spcPts val="2228"/>
                </a:lnSpc>
                <a:buFont typeface="Arial"/>
                <a:buChar char="•"/>
              </a:pPr>
              <a:r>
                <a:rPr lang="en-US" sz="1714">
                  <a:solidFill>
                    <a:srgbClr val="000000"/>
                  </a:solidFill>
                  <a:latin typeface="Open Sans 2"/>
                  <a:ea typeface="Open Sans 2"/>
                  <a:cs typeface="Open Sans 2"/>
                  <a:sym typeface="Open Sans 2"/>
                </a:rPr>
                <a:t>Feature selection and preprocessing did not enhance predictive power.</a:t>
              </a:r>
            </a:p>
            <a:p>
              <a:pPr algn="l" marL="0" indent="0" lvl="0">
                <a:lnSpc>
                  <a:spcPts val="3900"/>
                </a:lnSpc>
              </a:pPr>
            </a:p>
            <a:p>
              <a:pPr algn="l" marL="0" indent="0" lvl="0">
                <a:lnSpc>
                  <a:spcPts val="3900"/>
                </a:lnSpc>
              </a:pPr>
              <a:r>
                <a:rPr lang="en-US" b="true" sz="3000">
                  <a:solidFill>
                    <a:srgbClr val="000000"/>
                  </a:solidFill>
                  <a:latin typeface="Open Sans 2 Bold"/>
                  <a:ea typeface="Open Sans 2 Bold"/>
                  <a:cs typeface="Open Sans 2 Bold"/>
                  <a:sym typeface="Open Sans 2 Bold"/>
                </a:rPr>
                <a:t>Interpretation:</a:t>
              </a:r>
            </a:p>
            <a:p>
              <a:pPr algn="l" marL="0" indent="0" lvl="0">
                <a:lnSpc>
                  <a:spcPts val="2228"/>
                </a:lnSpc>
              </a:pPr>
            </a:p>
            <a:p>
              <a:pPr algn="l" marL="0" indent="0" lvl="0">
                <a:lnSpc>
                  <a:spcPts val="2228"/>
                </a:lnSpc>
              </a:pPr>
              <a:r>
                <a:rPr lang="en-US" sz="1714">
                  <a:solidFill>
                    <a:srgbClr val="000000"/>
                  </a:solidFill>
                  <a:latin typeface="Open Sans 2"/>
                  <a:ea typeface="Open Sans 2"/>
                  <a:cs typeface="Open Sans 2"/>
                  <a:sym typeface="Open Sans 2"/>
                </a:rPr>
                <a:t>There is minimal to no meaningful link between the profile features and zodiac signs, suggesting these characteristics don't encode zodiac signs in OKCupid profiles.</a:t>
              </a:r>
            </a:p>
          </p:txBody>
        </p:sp>
        <p:sp>
          <p:nvSpPr>
            <p:cNvPr name="AutoShape 6" id="6"/>
            <p:cNvSpPr/>
            <p:nvPr/>
          </p:nvSpPr>
          <p:spPr>
            <a:xfrm>
              <a:off x="0" y="19050"/>
              <a:ext cx="20489622" cy="0"/>
            </a:xfrm>
            <a:prstGeom prst="line">
              <a:avLst/>
            </a:prstGeom>
            <a:ln cap="rnd" w="38100">
              <a:solidFill>
                <a:srgbClr val="FFFFFF"/>
              </a:solidFill>
              <a:prstDash val="solid"/>
              <a:headEnd type="none" len="sm" w="sm"/>
              <a:tailEnd type="none" len="sm" w="sm"/>
            </a:ln>
          </p:spPr>
        </p:sp>
        <p:sp>
          <p:nvSpPr>
            <p:cNvPr name="AutoShape 7" id="7"/>
            <p:cNvSpPr/>
            <p:nvPr/>
          </p:nvSpPr>
          <p:spPr>
            <a:xfrm>
              <a:off x="0" y="8052687"/>
              <a:ext cx="20489622" cy="0"/>
            </a:xfrm>
            <a:prstGeom prst="line">
              <a:avLst/>
            </a:prstGeom>
            <a:ln cap="rnd" w="38100">
              <a:solidFill>
                <a:srgbClr val="FFFFFF"/>
              </a:solidFill>
              <a:prstDash val="solid"/>
              <a:headEnd type="none" len="sm" w="sm"/>
              <a:tailEnd type="none" len="sm" w="sm"/>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DAGrTTIJfQM</dc:identifier>
  <dcterms:modified xsi:type="dcterms:W3CDTF">2011-08-01T06:04:30Z</dcterms:modified>
  <cp:revision>1</cp:revision>
  <dc:title>OKCupid Project: Date-A-Scientist</dc:title>
</cp:coreProperties>
</file>